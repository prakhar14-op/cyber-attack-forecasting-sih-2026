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**Team ID and Team Name are deliberately TBD.** They are not facts this repository holds, and</a:t>
            </a:r>
          </a:p>
          <a:p>
            <a:r>
              <a:t>CLAUDE.md forbids inventing a value where one has not been established. Fill both in from the SIH</a:t>
            </a:r>
          </a:p>
          <a:p>
            <a:r>
              <a:t>portal registration before the deck is exported to PDF.</a:t>
            </a:r>
          </a:p>
          <a:p/>
          <a:p>
            <a:r>
              <a:t>The three chips are the whole submission in one line each, and they are ordered by how hard they</a:t>
            </a:r>
          </a:p>
          <a:p>
            <a:r>
              <a:t>are to fake: forecasting is a modelling claim, explanation is an interface claim, and the ledger</a:t>
            </a:r>
          </a:p>
          <a:p>
            <a:r>
              <a:t>is the only one of the three a judge can falsify on the spot with no network and no trust in us.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**Why this claim and not a bigger one.** Day-wise splitting over four attack days makes train and</a:t>
            </a:r>
          </a:p>
          <a:p>
            <a:r>
              <a:t>test **attack-family-disjoint** — train carries brute-force and DoS, test carries bot — so the gap</a:t>
            </a:r>
          </a:p>
          <a:p>
            <a:r>
              <a:t>between the two figures above is a genuine cross-family transfer result, not a memorised episode.</a:t>
            </a:r>
          </a:p>
          <a:p>
            <a:r>
              <a:t>That is the honest hard version of this problem statement, and it is the one place where our</a:t>
            </a:r>
          </a:p>
          <a:p>
            <a:r>
              <a:t>numbers separate cleanly from a baseline rather than from the literature. We have **not** measured</a:t>
            </a:r>
          </a:p>
          <a:p>
            <a:r>
              <a:t>the literature and make no claim against it (`docs/competitive.md` §4).</a:t>
            </a:r>
          </a:p>
          <a:p/>
          <a:p>
            <a:r>
              <a:t>The unit of prediction is the load-bearing design decision. A per-flow classifier answers "was</a:t>
            </a:r>
          </a:p>
          <a:p>
            <a:r>
              <a:t>this flow malicious?" after the fact; scoring a *host over a window* is what makes lead time —</a:t>
            </a:r>
          </a:p>
          <a:p>
            <a:r>
              <a:t>the PS's own success metric — a measurable quantity at all.</a:t>
            </a:r>
          </a:p>
          <a:p/>
          <a:p>
            <a:r>
              <a:t>Window-bounded features are the second. Every feature value summarises only packets whose own</a:t>
            </a:r>
          </a:p>
          <a:p>
            <a:r>
              <a:t>timestamp lies inside the window. Attributing whole-flow totals to a flow's start window leaked</a:t>
            </a:r>
          </a:p>
          <a:p>
            <a:r>
              <a:t>forecast-horizon traffic into the present and would have fabricated our headline; the leak was</a:t>
            </a:r>
          </a:p>
          <a:p>
            <a:r>
              <a:t>found and removed before anything was published (`docs/decisions/003`).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**Two lanes, one feature matrix, and the judge's demo is the top lane.** This is</a:t>
            </a:r>
          </a:p>
          <a:p>
            <a:r>
              <a:t>`docs/architecture.md` §2's own split. Drawing them as a single chain would teach a reader a</a:t>
            </a:r>
          </a:p>
          <a:p>
            <a:r>
              <a:t>pipeline the product does not have, so the builder refuses to put an evaluation-only component</a:t>
            </a:r>
          </a:p>
          <a:p>
            <a:r>
              <a:t>into the deployed lane.</a:t>
            </a:r>
          </a:p>
          <a:p/>
          <a:p>
            <a:r>
              <a:t>**Methodology, in the order it runs.** Parse pcap bytes with raw struct offsets (≈110k packets/s,</a:t>
            </a:r>
          </a:p>
          <a:p>
            <a:r>
              <a:t>bounded memory) → join flow records and per-(src, window) packet statistics into the 30-feature</a:t>
            </a:r>
          </a:p>
          <a:p>
            <a:r>
              <a:t>matrix → fit the scaler on the training split only → score each host-window → convert the score</a:t>
            </a:r>
          </a:p>
          <a:p>
            <a:r>
              <a:t>to an alert using a threshold fitted from an FPR budget on **validation** → attribute it with</a:t>
            </a:r>
          </a:p>
          <a:p>
            <a:r>
              <a:t>TreeSHAP in named-feature space → map stage and observed pattern to an ATT&amp;CK technique</a:t>
            </a:r>
          </a:p>
          <a:p>
            <a:r>
              <a:t>(`engine/technique_map.yaml`) → append to the hash chain and close the batch with a Merkle root.</a:t>
            </a:r>
          </a:p>
          <a:p/>
          <a:p>
            <a:r>
              <a:t>**Why XGBoost is the deployed scorer and the temporal-graph stack is not.** It is CPU-cheap, it is</a:t>
            </a:r>
          </a:p>
          <a:p>
            <a:r>
              <a:t>natively TreeSHAP-explainable in the same named-feature space the PS demands, and it is what</a:t>
            </a:r>
          </a:p>
          <a:p>
            <a:r>
              <a:t>measured best on the deployable path. The TGN/GRAFT lane is the research contribution and it is</a:t>
            </a:r>
          </a:p>
          <a:p>
            <a:r>
              <a:t>measured honestly in `eval/` — but honesty about which of the two a judge is actually running is</a:t>
            </a:r>
          </a:p>
          <a:p>
            <a:r>
              <a:t>the single thing this project has been audited hardest on.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**Feasibility is the easy half and we treat it as already answered.** Nothing above is a plan: the</a:t>
            </a:r>
          </a:p>
          <a:p>
            <a:r>
              <a:t>extractor, the scorer, the explainer, the ledger, the offline verifier and the Streamlit file-input</a:t>
            </a:r>
          </a:p>
          <a:p>
            <a:r>
              <a:t>demo exist and run air-gapped today. The install is a local wheel-house, the inference is CPU-only,</a:t>
            </a:r>
          </a:p>
          <a:p>
            <a:r>
              <a:t>and the whole thing is Apache-2.0 with `THIRD_PARTY_NOTICES.md` maintained.</a:t>
            </a:r>
          </a:p>
          <a:p/>
          <a:p>
            <a:r>
              <a:t>**The risks are the half worth a judge's attention, so they are stated at full strength.**</a:t>
            </a:r>
          </a:p>
          <a:p>
            <a:r>
              <a:t>`recon`, `lateral_movement` and `exfiltration` have **zero labelled windows**: the latter two do</a:t>
            </a:r>
          </a:p>
          <a:p>
            <a:r>
              <a:t>not exist in CSE-CIC-IDS2018 at all, and `recon` has none in the four days we fetched. So the</a:t>
            </a:r>
          </a:p>
          <a:p>
            <a:r>
              <a:t>system forecasts a binary infiltration probability reliably and assigns a stage by interpretable</a:t>
            </a:r>
          </a:p>
          <a:p>
            <a:r>
              <a:t>named-feature rules — it is **not** a validated seven-class classifier, and we publish no</a:t>
            </a:r>
          </a:p>
          <a:p>
            <a:r>
              <a:t>per-class number for those three. The k-step forecast head is a real ranking capability whose</a:t>
            </a:r>
          </a:p>
          <a:p>
            <a:r>
              <a:t>fixed-budget operating point does not fire, and the oracle-threshold check says that is a ranking</a:t>
            </a:r>
          </a:p>
          <a:p>
            <a:r>
              <a:t>limit rather than a threshold anyone forgot to retune; the early warning this system claims comes</a:t>
            </a:r>
          </a:p>
          <a:p>
            <a:r>
              <a:t>from the **horizon-0** classifier instead. Benign hosts are subsampled (~30 of ~450 per day), which</a:t>
            </a:r>
          </a:p>
          <a:p>
            <a:r>
              <a:t>inflates precision and F1 and makes any alerts-per-day figure a within-sample extrapolation.</a:t>
            </a:r>
          </a:p>
          <a:p/>
          <a:p>
            <a:r>
              <a:t>**Viability.** Apache-2.0, no licence cost, no per-seat model, and no vendor in the loop — a CERT</a:t>
            </a:r>
          </a:p>
          <a:p>
            <a:r>
              <a:t>or a lab can run it on hardware it already owns. `docs/roadmap.md` §1 is a sized list of the open</a:t>
            </a:r>
          </a:p>
          <a:p>
            <a:r>
              <a:t>engineering items, each tied to the evidence that sizes it, rather than a wish list.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**Impact, stated at the size it actually is.** The lead-time number is the most attractive thing on</a:t>
            </a:r>
          </a:p>
          <a:p>
            <a:r>
              <a:t>this page and the least supported, which is exactly why it sits in the band and not in the</a:t>
            </a:r>
          </a:p>
          <a:p>
            <a:r>
              <a:t>headline. Two episodes of one host is not a population; the interval above is what two-for-two</a:t>
            </a:r>
          </a:p>
          <a:p>
            <a:r>
              <a:t>honestly buys, and the matched-budget random comparison is the test this number has not yet</a:t>
            </a:r>
          </a:p>
          <a:p>
            <a:r>
              <a:t>passed.</a:t>
            </a:r>
          </a:p>
          <a:p/>
          <a:p>
            <a:r>
              <a:t>What is *not* hedged: the explanation and the ledger. Every alert names real features because the</a:t>
            </a:r>
          </a:p>
          <a:p>
            <a:r>
              <a:t>problem statement rules out black-box output, and every forecast is committed to a chain where</a:t>
            </a:r>
          </a:p>
          <a:p>
            <a:r>
              <a:t>editing one record breaks that record's hash and the verifier names its exact index — a fully</a:t>
            </a:r>
          </a:p>
          <a:p>
            <a:r>
              <a:t>rewritten, self-consistent chain still fails against an anchored checkpoint. `ledger/verify_cli.py`</a:t>
            </a:r>
          </a:p>
          <a:p>
            <a:r>
              <a:t>does that with no network. The one tampering mode it cannot catch — truncating the chain and its</a:t>
            </a:r>
          </a:p>
          <a:p>
            <a:r>
              <a:t>checkpoints together — is documented and pinned by a test rather than left to be discovered.</a:t>
            </a:r>
          </a:p>
          <a:p/>
          <a:p>
            <a:r>
              <a:t>**Environmental:** CPU-only inference and no cloud round-trip, so the compute footprint is a</a:t>
            </a:r>
          </a:p>
          <a:p>
            <a:r>
              <a:t>laptop's. We have measured no energy figure and therefore claim none.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**Every entry above was checked against the publisher this round**, not quoted from memory: titles</a:t>
            </a:r>
          </a:p>
          <a:p>
            <a:r>
              <a:t>and author lists from the arXiv abstract pages, the CNS 2022 venue and DOI for Liu et al. (which</a:t>
            </a:r>
          </a:p>
          <a:p>
            <a:r>
              <a:t>`docs/dataset_quality.md` had flagged "verify venue/year" and which is now verified), the dataset</a:t>
            </a:r>
          </a:p>
          <a:p>
            <a:r>
              <a:t>page at UNB, and RFC 6962 at the RFC Editor. `docs/dataset_quality.md` carries the rest of the</a:t>
            </a:r>
          </a:p>
          <a:p>
            <a:r>
              <a:t>bibliography with a per-entry confidence statement, including the entries we are **not** yet</a:t>
            </a:r>
          </a:p>
          <a:p>
            <a:r>
              <a:t>confident enough to print on a slide.</a:t>
            </a:r>
          </a:p>
          <a:p/>
          <a:p>
            <a:r>
              <a:t>**Our own written work, which is the reference a judge can actually audit:**</a:t>
            </a:r>
          </a:p>
          <a:p>
            <a:r>
              <a:t>`docs/architecture.md` (two pages, every measured figure), `docs/benchmark_protocol.md` (the split</a:t>
            </a:r>
          </a:p>
          <a:p>
            <a:r>
              <a:t>and threshold rules, stated before any result), `docs/limitations.md` (five numbered limitations),</a:t>
            </a:r>
          </a:p>
          <a:p>
            <a:r>
              <a:t>`docs/dataset_quality.md` (which published dataset defects reach this pipeline and which do not),</a:t>
            </a:r>
          </a:p>
          <a:p>
            <a:r>
              <a:t>`docs/competitive.md` (why not just run Suricata or Zeek — and the head-to-head we have **not**</a:t>
            </a:r>
          </a:p>
          <a:p>
            <a:r>
              <a:t>run), `docs/threat_model.md`, `docs/evasion.md` and `docs/roadmap.md`.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-accent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A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deck-title"/>
          <p:cNvSpPr txBox="1"/>
          <p:nvPr/>
        </p:nvSpPr>
        <p:spPr>
          <a:xfrm>
            <a:off x="566928" y="365760"/>
            <a:ext cx="11057839" cy="4566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3100" b="1" i="0">
                <a:solidFill>
                  <a:srgbClr val="101A28"/>
                </a:solidFill>
                <a:latin typeface="Segoe UI"/>
              </a:rPr>
              <a:t>Title Page</a:t>
            </a:r>
          </a:p>
        </p:txBody>
      </p:sp>
      <p:sp>
        <p:nvSpPr>
          <p:cNvPr id="4" name="deck-title-rule"/>
          <p:cNvSpPr/>
          <p:nvPr/>
        </p:nvSpPr>
        <p:spPr>
          <a:xfrm>
            <a:off x="566928" y="913892"/>
            <a:ext cx="1920240" cy="41148"/>
          </a:xfrm>
          <a:prstGeom prst="rect">
            <a:avLst/>
          </a:prstGeom>
          <a:solidFill>
            <a:srgbClr val="1A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deck-kicker"/>
          <p:cNvSpPr txBox="1"/>
          <p:nvPr/>
        </p:nvSpPr>
        <p:spPr>
          <a:xfrm>
            <a:off x="566928" y="1151636"/>
            <a:ext cx="11057839" cy="2320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50" b="1" i="0">
                <a:solidFill>
                  <a:srgbClr val="1A6FAF"/>
                </a:solidFill>
                <a:latin typeface="Segoe UI"/>
              </a:rPr>
              <a:t>SIH 2026 · idea submission · Problem Statement </a:t>
            </a:r>
            <a:r>
              <a:rPr sz="1450" b="1" i="0">
                <a:solidFill>
                  <a:srgbClr val="1A6FAF"/>
                </a:solidFill>
                <a:latin typeface="Segoe UI"/>
              </a:rPr>
              <a:t>SIH26153</a:t>
            </a:r>
            <a:r>
              <a:rPr sz="1450" b="1" i="0">
                <a:solidFill>
                  <a:srgbClr val="1A6FAF"/>
                </a:solidFill>
                <a:latin typeface="Segoe UI"/>
              </a:rPr>
              <a:t> · NTRO · theme: Blockchain &amp; Cybersecurity</a:t>
            </a:r>
          </a:p>
        </p:txBody>
      </p:sp>
      <p:sp>
        <p:nvSpPr>
          <p:cNvPr id="6" name="deck-headline"/>
          <p:cNvSpPr txBox="1"/>
          <p:nvPr/>
        </p:nvSpPr>
        <p:spPr>
          <a:xfrm>
            <a:off x="566928" y="1566545"/>
            <a:ext cx="11057839" cy="35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300" b="1" i="0">
                <a:solidFill>
                  <a:srgbClr val="0E3A5C"/>
                </a:solidFill>
                <a:latin typeface="Segoe UI"/>
              </a:rPr>
              <a:t>Forecast the host. Explain the alert. Prove the record.</a:t>
            </a:r>
          </a:p>
        </p:txBody>
      </p:sp>
      <p:sp>
        <p:nvSpPr>
          <p:cNvPr id="7" name="deck-chips-label"/>
          <p:cNvSpPr txBox="1"/>
          <p:nvPr/>
        </p:nvSpPr>
        <p:spPr>
          <a:xfrm>
            <a:off x="566928" y="2160651"/>
            <a:ext cx="11057839" cy="2240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1A6FAF"/>
                </a:solidFill>
                <a:latin typeface="Segoe UI"/>
              </a:rPr>
              <a:t>THE IDEA IN THREE PARTS</a:t>
            </a:r>
          </a:p>
        </p:txBody>
      </p:sp>
      <p:sp>
        <p:nvSpPr>
          <p:cNvPr id="8" name="deck-chip-0"/>
          <p:cNvSpPr/>
          <p:nvPr/>
        </p:nvSpPr>
        <p:spPr>
          <a:xfrm>
            <a:off x="566928" y="2439543"/>
            <a:ext cx="3588410" cy="1179575"/>
          </a:xfrm>
          <a:prstGeom prst="rect">
            <a:avLst/>
          </a:prstGeom>
          <a:solidFill>
            <a:srgbClr val="EEF3F8"/>
          </a:solidFill>
          <a:ln w="15875">
            <a:solidFill>
              <a:srgbClr val="CE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eck-chip-text-0"/>
          <p:cNvSpPr txBox="1"/>
          <p:nvPr/>
        </p:nvSpPr>
        <p:spPr>
          <a:xfrm>
            <a:off x="704088" y="2558415"/>
            <a:ext cx="3314090" cy="96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101A28"/>
                </a:solidFill>
                <a:latin typeface="Segoe UI"/>
              </a:rPr>
              <a:t>Forecast</a:t>
            </a:r>
            <a:r>
              <a:rPr sz="1500" b="0" i="0">
                <a:solidFill>
                  <a:srgbClr val="101A28"/>
                </a:solidFill>
                <a:latin typeface="Segoe UI"/>
              </a:rPr>
              <a:t> — per (source host, 15 s window), so </a:t>
            </a:r>
            <a:r>
              <a:rPr sz="1500" b="0" i="1">
                <a:solidFill>
                  <a:srgbClr val="101A28"/>
                </a:solidFill>
                <a:latin typeface="Segoe UI"/>
              </a:rPr>
              <a:t>"how early did we know?"</a:t>
            </a:r>
            <a:r>
              <a:rPr sz="1500" b="0" i="0">
                <a:solidFill>
                  <a:srgbClr val="101A28"/>
                </a:solidFill>
                <a:latin typeface="Segoe UI"/>
              </a:rPr>
              <a:t> is a question the system can answer</a:t>
            </a:r>
          </a:p>
        </p:txBody>
      </p:sp>
      <p:sp>
        <p:nvSpPr>
          <p:cNvPr id="10" name="deck-chip-1"/>
          <p:cNvSpPr/>
          <p:nvPr/>
        </p:nvSpPr>
        <p:spPr>
          <a:xfrm>
            <a:off x="4301642" y="2439543"/>
            <a:ext cx="3588410" cy="1179575"/>
          </a:xfrm>
          <a:prstGeom prst="rect">
            <a:avLst/>
          </a:prstGeom>
          <a:solidFill>
            <a:srgbClr val="EEF3F8"/>
          </a:solidFill>
          <a:ln w="15875">
            <a:solidFill>
              <a:srgbClr val="CE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eck-chip-text-1"/>
          <p:cNvSpPr txBox="1"/>
          <p:nvPr/>
        </p:nvSpPr>
        <p:spPr>
          <a:xfrm>
            <a:off x="4438802" y="2558415"/>
            <a:ext cx="3314090" cy="96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101A28"/>
                </a:solidFill>
                <a:latin typeface="Segoe UI"/>
              </a:rPr>
              <a:t>Explain</a:t>
            </a:r>
            <a:r>
              <a:rPr sz="1500" b="0" i="0">
                <a:solidFill>
                  <a:srgbClr val="101A28"/>
                </a:solidFill>
                <a:latin typeface="Segoe UI"/>
              </a:rPr>
              <a:t> — every alert names real features and a MITRE ATT&amp;CK technique, never an embedding index</a:t>
            </a:r>
          </a:p>
        </p:txBody>
      </p:sp>
      <p:sp>
        <p:nvSpPr>
          <p:cNvPr id="12" name="deck-chip-2"/>
          <p:cNvSpPr/>
          <p:nvPr/>
        </p:nvSpPr>
        <p:spPr>
          <a:xfrm>
            <a:off x="8036356" y="2439543"/>
            <a:ext cx="3588410" cy="1179575"/>
          </a:xfrm>
          <a:prstGeom prst="rect">
            <a:avLst/>
          </a:prstGeom>
          <a:solidFill>
            <a:srgbClr val="EEF3F8"/>
          </a:solidFill>
          <a:ln w="15875">
            <a:solidFill>
              <a:srgbClr val="CE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deck-chip-text-2"/>
          <p:cNvSpPr txBox="1"/>
          <p:nvPr/>
        </p:nvSpPr>
        <p:spPr>
          <a:xfrm>
            <a:off x="8173516" y="2558415"/>
            <a:ext cx="3314090" cy="96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101A28"/>
                </a:solidFill>
                <a:latin typeface="Segoe UI"/>
              </a:rPr>
              <a:t>Prove</a:t>
            </a:r>
            <a:r>
              <a:rPr sz="1500" b="0" i="0">
                <a:solidFill>
                  <a:srgbClr val="101A28"/>
                </a:solidFill>
                <a:latin typeface="Segoe UI"/>
              </a:rPr>
              <a:t> — each alert is sealed into a hash-chained ledger a judge re-verifies with the network unplugged</a:t>
            </a:r>
          </a:p>
        </p:txBody>
      </p:sp>
      <p:sp>
        <p:nvSpPr>
          <p:cNvPr id="14" name="deck-points"/>
          <p:cNvSpPr txBox="1"/>
          <p:nvPr/>
        </p:nvSpPr>
        <p:spPr>
          <a:xfrm>
            <a:off x="566928" y="3801999"/>
            <a:ext cx="11057839" cy="1527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▪  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Problem Statement ID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SIH26153 — </a:t>
            </a:r>
            <a:r>
              <a:rPr sz="1700" b="0" i="1">
                <a:solidFill>
                  <a:srgbClr val="101A28"/>
                </a:solidFill>
                <a:latin typeface="Segoe UI"/>
              </a:rPr>
              <a:t>AI based Network Attack Forecasting from Network Traffic Data</a:t>
            </a:r>
          </a:p>
          <a:p>
            <a:pPr marL="292608" indent="-292608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▪  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Theme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Blockchain &amp; Cybersecurity ·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PS Category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Software ·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Licence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Apache-2.0, fully open source</a:t>
            </a:r>
          </a:p>
          <a:p>
            <a:pPr marL="292608" indent="-292608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▪  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Team ID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TBD ·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Team Name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TBD — the portal-registered values go here before upload</a:t>
            </a:r>
          </a:p>
        </p:txBody>
      </p:sp>
      <p:sp>
        <p:nvSpPr>
          <p:cNvPr id="15" name="deck-footer"/>
          <p:cNvSpPr txBox="1"/>
          <p:nvPr/>
        </p:nvSpPr>
        <p:spPr>
          <a:xfrm>
            <a:off x="566928" y="6345936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556272"/>
                </a:solidFill>
                <a:latin typeface="Segoe UI"/>
              </a:rPr>
              <a:t>SIH26153 · NTRO · idea round · built from docs/idea_round.md by scripts/build_idea_deck.py</a:t>
            </a:r>
          </a:p>
        </p:txBody>
      </p:sp>
      <p:sp>
        <p:nvSpPr>
          <p:cNvPr id="16" name="deck-footer-number"/>
          <p:cNvSpPr txBox="1"/>
          <p:nvPr/>
        </p:nvSpPr>
        <p:spPr>
          <a:xfrm>
            <a:off x="10527487" y="6345936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556272"/>
                </a:solidFill>
                <a:latin typeface="Segoe UI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-accent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A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deck-title"/>
          <p:cNvSpPr txBox="1"/>
          <p:nvPr/>
        </p:nvSpPr>
        <p:spPr>
          <a:xfrm>
            <a:off x="566928" y="365760"/>
            <a:ext cx="11057839" cy="4566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3100" b="1" i="0">
                <a:solidFill>
                  <a:srgbClr val="101A28"/>
                </a:solidFill>
                <a:latin typeface="Segoe UI"/>
              </a:rPr>
              <a:t>Proposed Solution</a:t>
            </a:r>
          </a:p>
        </p:txBody>
      </p:sp>
      <p:sp>
        <p:nvSpPr>
          <p:cNvPr id="4" name="deck-title-rule"/>
          <p:cNvSpPr/>
          <p:nvPr/>
        </p:nvSpPr>
        <p:spPr>
          <a:xfrm>
            <a:off x="566928" y="913892"/>
            <a:ext cx="1920240" cy="41148"/>
          </a:xfrm>
          <a:prstGeom prst="rect">
            <a:avLst/>
          </a:prstGeom>
          <a:solidFill>
            <a:srgbClr val="1A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deck-headline"/>
          <p:cNvSpPr txBox="1"/>
          <p:nvPr/>
        </p:nvSpPr>
        <p:spPr>
          <a:xfrm>
            <a:off x="566928" y="1151636"/>
            <a:ext cx="11057839" cy="10690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300" b="0" i="0">
                <a:solidFill>
                  <a:srgbClr val="0E3A5C"/>
                </a:solidFill>
                <a:latin typeface="Segoe UI"/>
              </a:rPr>
              <a:t>On a </a:t>
            </a:r>
            <a:r>
              <a:rPr sz="2300" b="1" i="0">
                <a:solidFill>
                  <a:srgbClr val="0E3A5C"/>
                </a:solidFill>
                <a:latin typeface="Segoe UI"/>
              </a:rPr>
              <a:t>day-wise, attack-family-disjoint test split</a:t>
            </a:r>
            <a:r>
              <a:rPr sz="2300" b="0" i="0">
                <a:solidFill>
                  <a:srgbClr val="0E3A5C"/>
                </a:solidFill>
                <a:latin typeface="Segoe UI"/>
              </a:rPr>
              <a:t>, the deployed scorer reaches </a:t>
            </a:r>
            <a:r>
              <a:rPr sz="2300" b="1" i="0">
                <a:solidFill>
                  <a:srgbClr val="0E3A5C"/>
                </a:solidFill>
                <a:latin typeface="Segoe UI"/>
              </a:rPr>
              <a:t>AUROC 0.872</a:t>
            </a:r>
            <a:r>
              <a:rPr sz="2300" b="0" i="0">
                <a:solidFill>
                  <a:srgbClr val="0E3A5C"/>
                </a:solidFill>
                <a:latin typeface="Segoe UI"/>
              </a:rPr>
              <a:t> — the graded logistic baseline on the </a:t>
            </a:r>
            <a:r>
              <a:rPr sz="2300" b="0" i="1">
                <a:solidFill>
                  <a:srgbClr val="0E3A5C"/>
                </a:solidFill>
                <a:latin typeface="Segoe UI"/>
              </a:rPr>
              <a:t>identical</a:t>
            </a:r>
            <a:r>
              <a:rPr sz="2300" b="0" i="0">
                <a:solidFill>
                  <a:srgbClr val="0E3A5C"/>
                </a:solidFill>
                <a:latin typeface="Segoe UI"/>
              </a:rPr>
              <a:t> feature matrix reaches 0.573.</a:t>
            </a:r>
          </a:p>
        </p:txBody>
      </p:sp>
      <p:sp>
        <p:nvSpPr>
          <p:cNvPr id="6" name="deck-points"/>
          <p:cNvSpPr txBox="1"/>
          <p:nvPr/>
        </p:nvSpPr>
        <p:spPr>
          <a:xfrm>
            <a:off x="566928" y="2458466"/>
            <a:ext cx="11057839" cy="20711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▪  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What it is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— one extractor, 30 window-bounded features per (host, window), one gradient-boosted scorer, a validation-fitted FPR threshold</a:t>
            </a:r>
          </a:p>
          <a:p>
            <a:pPr marL="292608" indent="-292608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▪  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How it addresses the PS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— black-box output is ruled out, so every alert carries top-5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named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features and an ATT&amp;CK technique</a:t>
            </a:r>
          </a:p>
          <a:p>
            <a:pPr marL="292608" indent="-292608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▪  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What is uniquely ours is the protocol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— whole episodes never straddle a split, and an undetected episode counts as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0 s lead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, never dropped from the median</a:t>
            </a:r>
          </a:p>
        </p:txBody>
      </p:sp>
      <p:sp>
        <p:nvSpPr>
          <p:cNvPr id="7" name="deck-band"/>
          <p:cNvSpPr/>
          <p:nvPr/>
        </p:nvSpPr>
        <p:spPr>
          <a:xfrm>
            <a:off x="566928" y="4730750"/>
            <a:ext cx="11057839" cy="1241298"/>
          </a:xfrm>
          <a:prstGeom prst="rect">
            <a:avLst/>
          </a:prstGeom>
          <a:solidFill>
            <a:srgbClr val="FDF3E0"/>
          </a:solidFill>
          <a:ln w="15875">
            <a:solidFill>
              <a:srgbClr val="C1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eck-band-edge"/>
          <p:cNvSpPr/>
          <p:nvPr/>
        </p:nvSpPr>
        <p:spPr>
          <a:xfrm>
            <a:off x="566928" y="4730750"/>
            <a:ext cx="68580" cy="1241298"/>
          </a:xfrm>
          <a:prstGeom prst="rect">
            <a:avLst/>
          </a:prstGeom>
          <a:solidFill>
            <a:srgbClr val="C1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eck-band-label"/>
          <p:cNvSpPr txBox="1"/>
          <p:nvPr/>
        </p:nvSpPr>
        <p:spPr>
          <a:xfrm>
            <a:off x="822960" y="4840478"/>
            <a:ext cx="10545775" cy="2240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6B400A"/>
                </a:solidFill>
                <a:latin typeface="Segoe UI"/>
              </a:rPr>
              <a:t>FIGURES RESOLVED FROM DOCS/ARCHITECTURE.MD AT BUILD TIME</a:t>
            </a:r>
          </a:p>
        </p:txBody>
      </p:sp>
      <p:sp>
        <p:nvSpPr>
          <p:cNvPr id="10" name="deck-band-text"/>
          <p:cNvSpPr txBox="1"/>
          <p:nvPr/>
        </p:nvSpPr>
        <p:spPr>
          <a:xfrm>
            <a:off x="822960" y="5119370"/>
            <a:ext cx="10545775" cy="742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101A28"/>
                </a:solidFill>
                <a:latin typeface="Segoe UI"/>
              </a:rPr>
              <a:t>That table's best row is a </a:t>
            </a:r>
            <a:r>
              <a:rPr sz="1500" b="1" i="0">
                <a:solidFill>
                  <a:srgbClr val="101A28"/>
                </a:solidFill>
                <a:latin typeface="Segoe UI"/>
              </a:rPr>
              <a:t>rank-mean fusion measured evaluation-side</a:t>
            </a:r>
            <a:r>
              <a:rPr sz="1500" b="0" i="0">
                <a:solidFill>
                  <a:srgbClr val="101A28"/>
                </a:solidFill>
                <a:latin typeface="Segoe UI"/>
              </a:rPr>
              <a:t>; the engine loads one booster, so the row above is what a judge's own demo produces. That table's AUROC and F1 are inflated by </a:t>
            </a:r>
            <a:r>
              <a:rPr sz="1500" b="1" i="0">
                <a:solidFill>
                  <a:srgbClr val="101A28"/>
                </a:solidFill>
                <a:latin typeface="Segoe UI"/>
              </a:rPr>
              <a:t>evaluation-row multiplicity</a:t>
            </a:r>
            <a:r>
              <a:rPr sz="1500" b="0" i="0">
                <a:solidFill>
                  <a:srgbClr val="101A28"/>
                </a:solidFill>
                <a:latin typeface="Segoe UI"/>
              </a:rPr>
              <a:t>; de-duplication is an open decision.</a:t>
            </a:r>
          </a:p>
        </p:txBody>
      </p:sp>
      <p:sp>
        <p:nvSpPr>
          <p:cNvPr id="11" name="deck-footer"/>
          <p:cNvSpPr txBox="1"/>
          <p:nvPr/>
        </p:nvSpPr>
        <p:spPr>
          <a:xfrm>
            <a:off x="566928" y="6345936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556272"/>
                </a:solidFill>
                <a:latin typeface="Segoe UI"/>
              </a:rPr>
              <a:t>SIH26153 · NTRO · idea round · built from docs/idea_round.md by scripts/build_idea_deck.py</a:t>
            </a:r>
          </a:p>
        </p:txBody>
      </p:sp>
      <p:sp>
        <p:nvSpPr>
          <p:cNvPr id="12" name="deck-footer-number"/>
          <p:cNvSpPr txBox="1"/>
          <p:nvPr/>
        </p:nvSpPr>
        <p:spPr>
          <a:xfrm>
            <a:off x="10527487" y="6345936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556272"/>
                </a:solidFill>
                <a:latin typeface="Segoe U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-accent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A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deck-title"/>
          <p:cNvSpPr txBox="1"/>
          <p:nvPr/>
        </p:nvSpPr>
        <p:spPr>
          <a:xfrm>
            <a:off x="566928" y="365760"/>
            <a:ext cx="11057839" cy="4566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3100" b="1" i="0">
                <a:solidFill>
                  <a:srgbClr val="101A28"/>
                </a:solidFill>
                <a:latin typeface="Segoe UI"/>
              </a:rPr>
              <a:t>Technical Approach</a:t>
            </a:r>
          </a:p>
        </p:txBody>
      </p:sp>
      <p:sp>
        <p:nvSpPr>
          <p:cNvPr id="4" name="deck-title-rule"/>
          <p:cNvSpPr/>
          <p:nvPr/>
        </p:nvSpPr>
        <p:spPr>
          <a:xfrm>
            <a:off x="566928" y="913892"/>
            <a:ext cx="1920240" cy="41148"/>
          </a:xfrm>
          <a:prstGeom prst="rect">
            <a:avLst/>
          </a:prstGeom>
          <a:solidFill>
            <a:srgbClr val="1A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deck-points"/>
          <p:cNvSpPr txBox="1"/>
          <p:nvPr/>
        </p:nvSpPr>
        <p:spPr>
          <a:xfrm>
            <a:off x="566928" y="1151636"/>
            <a:ext cx="11057839" cy="20711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▪  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Stack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— Python · XGBoost · SHAP (TreeSHAP) · scikit-learn · PyTorch + torch-geometric · scapy / tshark · Streamlit · JSON-Schema · SHA-256 hash chain</a:t>
            </a:r>
          </a:p>
          <a:p>
            <a:pPr marL="292608" indent="-292608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▪  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Flow and packet features, both mandated by the PS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— TTL mean and variance, TCP window, fragment flags, payload histogram, port entropy, scan signature, retransmissions</a:t>
            </a:r>
          </a:p>
          <a:p>
            <a:pPr marL="292608" indent="-292608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▪  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Causal by construction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— perturbing windows </a:t>
            </a:r>
            <a:r>
              <a:rPr sz="1700" b="0" i="1">
                <a:solidFill>
                  <a:srgbClr val="101A28"/>
                </a:solidFill>
                <a:latin typeface="Segoe UI"/>
              </a:rPr>
              <a:t>t+1…T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leaves the prediction at </a:t>
            </a:r>
            <a:r>
              <a:rPr sz="1700" b="0" i="1">
                <a:solidFill>
                  <a:srgbClr val="101A28"/>
                </a:solidFill>
                <a:latin typeface="Segoe UI"/>
              </a:rPr>
              <a:t>t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bit-identical; identity is keyed-HMAC pseudonyms, so no raw IP reaches the model or the ledger</a:t>
            </a:r>
          </a:p>
        </p:txBody>
      </p:sp>
      <p:sp>
        <p:nvSpPr>
          <p:cNvPr id="6" name="deck-lane-caption-deployed"/>
          <p:cNvSpPr txBox="1"/>
          <p:nvPr/>
        </p:nvSpPr>
        <p:spPr>
          <a:xfrm>
            <a:off x="566928" y="3423920"/>
            <a:ext cx="11057839" cy="2240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0E3A5C"/>
                </a:solidFill>
                <a:latin typeface="Segoe UI"/>
              </a:rPr>
              <a:t>DEPLOYED — what </a:t>
            </a:r>
            <a:r>
              <a:rPr sz="1400" b="1" i="0">
                <a:solidFill>
                  <a:srgbClr val="0E3A5C"/>
                </a:solidFill>
                <a:latin typeface="Consolas"/>
              </a:rPr>
              <a:t>engine/predict.py</a:t>
            </a:r>
            <a:r>
              <a:rPr sz="1400" b="1" i="0">
                <a:solidFill>
                  <a:srgbClr val="0E3A5C"/>
                </a:solidFill>
                <a:latin typeface="Segoe UI"/>
              </a:rPr>
              <a:t> loads and runs</a:t>
            </a:r>
          </a:p>
        </p:txBody>
      </p:sp>
      <p:sp>
        <p:nvSpPr>
          <p:cNvPr id="7" name="deck-lane-deployed-0"/>
          <p:cNvSpPr/>
          <p:nvPr/>
        </p:nvSpPr>
        <p:spPr>
          <a:xfrm>
            <a:off x="566928" y="3702812"/>
            <a:ext cx="2138415" cy="841248"/>
          </a:xfrm>
          <a:prstGeom prst="chevron">
            <a:avLst/>
          </a:prstGeom>
          <a:solidFill>
            <a:srgbClr val="0E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/>
          <a:lstStyle/>
          <a:p>
            <a:pPr algn="ctr"/>
            <a:r>
              <a:rPr sz="1400" b="0" i="0">
                <a:solidFill>
                  <a:srgbClr val="FFFFFF"/>
                </a:solidFill>
                <a:latin typeface="Segoe UI"/>
              </a:rPr>
              <a:t>PCAP / CSV</a:t>
            </a:r>
          </a:p>
        </p:txBody>
      </p:sp>
      <p:sp>
        <p:nvSpPr>
          <p:cNvPr id="8" name="deck-lane-deployed-1"/>
          <p:cNvSpPr/>
          <p:nvPr/>
        </p:nvSpPr>
        <p:spPr>
          <a:xfrm>
            <a:off x="2796783" y="3702812"/>
            <a:ext cx="2138415" cy="841248"/>
          </a:xfrm>
          <a:prstGeom prst="chevron">
            <a:avLst/>
          </a:prstGeom>
          <a:solidFill>
            <a:srgbClr val="EEF3F8"/>
          </a:solidFill>
          <a:ln w="15875">
            <a:solidFill>
              <a:srgbClr val="CE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/>
          <a:lstStyle/>
          <a:p>
            <a:pPr algn="ctr"/>
            <a:r>
              <a:rPr sz="1400" b="0" i="0">
                <a:solidFill>
                  <a:srgbClr val="101A28"/>
                </a:solidFill>
                <a:latin typeface="Segoe UI"/>
              </a:rPr>
              <a:t>30 window-bounded features</a:t>
            </a:r>
          </a:p>
        </p:txBody>
      </p:sp>
      <p:sp>
        <p:nvSpPr>
          <p:cNvPr id="9" name="deck-lane-deployed-2"/>
          <p:cNvSpPr/>
          <p:nvPr/>
        </p:nvSpPr>
        <p:spPr>
          <a:xfrm>
            <a:off x="5026639" y="3702812"/>
            <a:ext cx="2138415" cy="841248"/>
          </a:xfrm>
          <a:prstGeom prst="chevron">
            <a:avLst/>
          </a:prstGeom>
          <a:solidFill>
            <a:srgbClr val="EEF3F8"/>
          </a:solidFill>
          <a:ln w="15875">
            <a:solidFill>
              <a:srgbClr val="CE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/>
          <a:lstStyle/>
          <a:p>
            <a:pPr algn="ctr"/>
            <a:r>
              <a:rPr sz="1400" b="0" i="0">
                <a:solidFill>
                  <a:srgbClr val="101A28"/>
                </a:solidFill>
                <a:latin typeface="Segoe UI"/>
              </a:rPr>
              <a:t>XGBoost scorer (one booster)</a:t>
            </a:r>
          </a:p>
        </p:txBody>
      </p:sp>
      <p:sp>
        <p:nvSpPr>
          <p:cNvPr id="10" name="deck-lane-deployed-3"/>
          <p:cNvSpPr/>
          <p:nvPr/>
        </p:nvSpPr>
        <p:spPr>
          <a:xfrm>
            <a:off x="7256495" y="3702812"/>
            <a:ext cx="2138415" cy="841248"/>
          </a:xfrm>
          <a:prstGeom prst="chevron">
            <a:avLst/>
          </a:prstGeom>
          <a:solidFill>
            <a:srgbClr val="EEF3F8"/>
          </a:solidFill>
          <a:ln w="15875">
            <a:solidFill>
              <a:srgbClr val="CE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/>
          <a:lstStyle/>
          <a:p>
            <a:pPr algn="ctr"/>
            <a:r>
              <a:rPr sz="1400" b="0" i="0">
                <a:solidFill>
                  <a:srgbClr val="101A28"/>
                </a:solidFill>
                <a:latin typeface="Segoe UI"/>
              </a:rPr>
              <a:t>FPR-budget threshold</a:t>
            </a:r>
          </a:p>
        </p:txBody>
      </p:sp>
      <p:sp>
        <p:nvSpPr>
          <p:cNvPr id="11" name="deck-lane-deployed-4"/>
          <p:cNvSpPr/>
          <p:nvPr/>
        </p:nvSpPr>
        <p:spPr>
          <a:xfrm>
            <a:off x="9486351" y="3702812"/>
            <a:ext cx="2138415" cy="841248"/>
          </a:xfrm>
          <a:prstGeom prst="chevron">
            <a:avLst/>
          </a:prstGeom>
          <a:solidFill>
            <a:srgbClr val="0E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/>
          <a:lstStyle/>
          <a:p>
            <a:pPr algn="ctr"/>
            <a:r>
              <a:rPr sz="1400" b="0" i="0">
                <a:solidFill>
                  <a:srgbClr val="FFFFFF"/>
                </a:solidFill>
                <a:latin typeface="Segoe UI"/>
              </a:rPr>
              <a:t>TreeSHAP + ledger</a:t>
            </a:r>
          </a:p>
        </p:txBody>
      </p:sp>
      <p:sp>
        <p:nvSpPr>
          <p:cNvPr id="12" name="deck-lane-caption-evaluation"/>
          <p:cNvSpPr txBox="1"/>
          <p:nvPr/>
        </p:nvSpPr>
        <p:spPr>
          <a:xfrm>
            <a:off x="566928" y="4726940"/>
            <a:ext cx="11057839" cy="2240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556272"/>
                </a:solidFill>
                <a:latin typeface="Segoe UI"/>
              </a:rPr>
              <a:t>EVALUATION-ONLY — measured in </a:t>
            </a:r>
            <a:r>
              <a:rPr sz="1400" b="1" i="0">
                <a:solidFill>
                  <a:srgbClr val="556272"/>
                </a:solidFill>
                <a:latin typeface="Consolas"/>
              </a:rPr>
              <a:t>eval/</a:t>
            </a:r>
            <a:r>
              <a:rPr sz="1400" b="1" i="0">
                <a:solidFill>
                  <a:srgbClr val="556272"/>
                </a:solidFill>
                <a:latin typeface="Segoe UI"/>
              </a:rPr>
              <a:t>, never loaded by the engine</a:t>
            </a:r>
          </a:p>
        </p:txBody>
      </p:sp>
      <p:sp>
        <p:nvSpPr>
          <p:cNvPr id="13" name="deck-lane-evaluation-0"/>
          <p:cNvSpPr/>
          <p:nvPr/>
        </p:nvSpPr>
        <p:spPr>
          <a:xfrm>
            <a:off x="566928" y="5005832"/>
            <a:ext cx="2138415" cy="841248"/>
          </a:xfrm>
          <a:prstGeom prst="chevron">
            <a:avLst/>
          </a:prstGeom>
          <a:noFill/>
          <a:ln w="15875">
            <a:solidFill>
              <a:srgbClr val="5562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/>
          <a:lstStyle/>
          <a:p>
            <a:pPr algn="ctr"/>
            <a:r>
              <a:rPr sz="1400" b="0" i="0">
                <a:solidFill>
                  <a:srgbClr val="556272"/>
                </a:solidFill>
                <a:latin typeface="Segoe UI"/>
              </a:rPr>
              <a:t>same 30 features</a:t>
            </a:r>
          </a:p>
        </p:txBody>
      </p:sp>
      <p:sp>
        <p:nvSpPr>
          <p:cNvPr id="14" name="deck-lane-evaluation-1"/>
          <p:cNvSpPr/>
          <p:nvPr/>
        </p:nvSpPr>
        <p:spPr>
          <a:xfrm>
            <a:off x="2796783" y="5005832"/>
            <a:ext cx="2138415" cy="841248"/>
          </a:xfrm>
          <a:prstGeom prst="chevron">
            <a:avLst/>
          </a:prstGeom>
          <a:noFill/>
          <a:ln w="15875">
            <a:solidFill>
              <a:srgbClr val="5562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/>
          <a:lstStyle/>
          <a:p>
            <a:pPr algn="ctr"/>
            <a:r>
              <a:rPr sz="1400" b="0" i="0">
                <a:solidFill>
                  <a:srgbClr val="556272"/>
                </a:solidFill>
                <a:latin typeface="Segoe UI"/>
              </a:rPr>
              <a:t>TGN graph memory</a:t>
            </a:r>
          </a:p>
        </p:txBody>
      </p:sp>
      <p:sp>
        <p:nvSpPr>
          <p:cNvPr id="15" name="deck-lane-evaluation-2"/>
          <p:cNvSpPr/>
          <p:nvPr/>
        </p:nvSpPr>
        <p:spPr>
          <a:xfrm>
            <a:off x="5026639" y="5005832"/>
            <a:ext cx="2138415" cy="841248"/>
          </a:xfrm>
          <a:prstGeom prst="chevron">
            <a:avLst/>
          </a:prstGeom>
          <a:noFill/>
          <a:ln w="15875">
            <a:solidFill>
              <a:srgbClr val="5562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/>
          <a:lstStyle/>
          <a:p>
            <a:pPr algn="ctr"/>
            <a:r>
              <a:rPr sz="1400" b="0" i="0">
                <a:solidFill>
                  <a:srgbClr val="556272"/>
                </a:solidFill>
                <a:latin typeface="Segoe UI"/>
              </a:rPr>
              <a:t>GRAFT causal Transformer</a:t>
            </a:r>
          </a:p>
        </p:txBody>
      </p:sp>
      <p:sp>
        <p:nvSpPr>
          <p:cNvPr id="16" name="deck-lane-evaluation-3"/>
          <p:cNvSpPr/>
          <p:nvPr/>
        </p:nvSpPr>
        <p:spPr>
          <a:xfrm>
            <a:off x="7256495" y="5005832"/>
            <a:ext cx="2138415" cy="841248"/>
          </a:xfrm>
          <a:prstGeom prst="chevron">
            <a:avLst/>
          </a:prstGeom>
          <a:noFill/>
          <a:ln w="15875">
            <a:solidFill>
              <a:srgbClr val="5562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/>
          <a:lstStyle/>
          <a:p>
            <a:pPr algn="ctr"/>
            <a:r>
              <a:rPr sz="1400" b="0" i="0">
                <a:solidFill>
                  <a:srgbClr val="556272"/>
                </a:solidFill>
                <a:latin typeface="Segoe UI"/>
              </a:rPr>
              <a:t>k-step head (ranking only)</a:t>
            </a:r>
          </a:p>
        </p:txBody>
      </p:sp>
      <p:sp>
        <p:nvSpPr>
          <p:cNvPr id="17" name="deck-lane-evaluation-4"/>
          <p:cNvSpPr/>
          <p:nvPr/>
        </p:nvSpPr>
        <p:spPr>
          <a:xfrm>
            <a:off x="9486351" y="5005832"/>
            <a:ext cx="2138415" cy="841248"/>
          </a:xfrm>
          <a:prstGeom prst="chevron">
            <a:avLst/>
          </a:prstGeom>
          <a:noFill/>
          <a:ln w="15875">
            <a:solidFill>
              <a:srgbClr val="5562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/>
          <a:lstStyle/>
          <a:p>
            <a:pPr algn="ctr"/>
            <a:r>
              <a:rPr sz="1400" b="0" i="0">
                <a:solidFill>
                  <a:srgbClr val="556272"/>
                </a:solidFill>
                <a:latin typeface="Segoe UI"/>
              </a:rPr>
              <a:t>rank-mean fusion</a:t>
            </a:r>
          </a:p>
        </p:txBody>
      </p:sp>
      <p:sp>
        <p:nvSpPr>
          <p:cNvPr id="18" name="deck-footer"/>
          <p:cNvSpPr txBox="1"/>
          <p:nvPr/>
        </p:nvSpPr>
        <p:spPr>
          <a:xfrm>
            <a:off x="566928" y="6345936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556272"/>
                </a:solidFill>
                <a:latin typeface="Segoe UI"/>
              </a:rPr>
              <a:t>SIH26153 · NTRO · idea round · built from docs/idea_round.md by scripts/build_idea_deck.py</a:t>
            </a:r>
          </a:p>
        </p:txBody>
      </p:sp>
      <p:sp>
        <p:nvSpPr>
          <p:cNvPr id="19" name="deck-footer-number"/>
          <p:cNvSpPr txBox="1"/>
          <p:nvPr/>
        </p:nvSpPr>
        <p:spPr>
          <a:xfrm>
            <a:off x="10527487" y="6345936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556272"/>
                </a:solidFill>
                <a:latin typeface="Segoe U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-accent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A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deck-title"/>
          <p:cNvSpPr txBox="1"/>
          <p:nvPr/>
        </p:nvSpPr>
        <p:spPr>
          <a:xfrm>
            <a:off x="566928" y="365760"/>
            <a:ext cx="11057839" cy="4566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3100" b="1" i="0">
                <a:solidFill>
                  <a:srgbClr val="101A28"/>
                </a:solidFill>
                <a:latin typeface="Segoe UI"/>
              </a:rPr>
              <a:t>Feasibility and Viability</a:t>
            </a:r>
          </a:p>
        </p:txBody>
      </p:sp>
      <p:sp>
        <p:nvSpPr>
          <p:cNvPr id="4" name="deck-title-rule"/>
          <p:cNvSpPr/>
          <p:nvPr/>
        </p:nvSpPr>
        <p:spPr>
          <a:xfrm>
            <a:off x="566928" y="913892"/>
            <a:ext cx="1920240" cy="41148"/>
          </a:xfrm>
          <a:prstGeom prst="rect">
            <a:avLst/>
          </a:prstGeom>
          <a:solidFill>
            <a:srgbClr val="1A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deck-points"/>
          <p:cNvSpPr txBox="1"/>
          <p:nvPr/>
        </p:nvSpPr>
        <p:spPr>
          <a:xfrm>
            <a:off x="566928" y="1151636"/>
            <a:ext cx="11057839" cy="20711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▪  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Built, not proposed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— M0–M10 tagged; </a:t>
            </a:r>
            <a:r>
              <a:rPr sz="1700" b="0" i="1">
                <a:solidFill>
                  <a:srgbClr val="101A28"/>
                </a:solidFill>
                <a:latin typeface="Segoe UI"/>
              </a:rPr>
              <a:t>offline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is a test, not a promise: </a:t>
            </a:r>
            <a:r>
              <a:rPr sz="1700" b="0" i="0">
                <a:solidFill>
                  <a:srgbClr val="101A28"/>
                </a:solidFill>
                <a:latin typeface="Consolas"/>
              </a:rPr>
              <a:t>tests/test_offline.py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blocks every socket, then runs inference and ledger verification end to end</a:t>
            </a:r>
          </a:p>
          <a:p>
            <a:pPr marL="292608" indent="-292608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▪  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Runs where the customer runs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— CPU-only inference, offline wheel-house install, no cloud API, no telemetry</a:t>
            </a:r>
          </a:p>
          <a:p>
            <a:pPr marL="292608" indent="-292608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▪  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Reproducible by the judge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— splits, seeds and the FPR budget are YAML config; the results table regenerates from the evaluation, not from a committed number</a:t>
            </a:r>
          </a:p>
        </p:txBody>
      </p:sp>
      <p:graphicFrame>
        <p:nvGraphicFramePr>
          <p:cNvPr id="6" name="deck-table"/>
          <p:cNvGraphicFramePr>
            <a:graphicFrameLocks noGrp="1"/>
          </p:cNvGraphicFramePr>
          <p:nvPr/>
        </p:nvGraphicFramePr>
        <p:xfrm>
          <a:off x="566928" y="3423920"/>
          <a:ext cx="11057839" cy="23591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645533"/>
                <a:gridCol w="6412306"/>
              </a:tblGrid>
              <a:tr h="347472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risk we carry</a:t>
                      </a:r>
                    </a:p>
                  </a:txBody>
                  <a:tcPr anchor="ctr" marL="91440" marR="91440" marT="0" marB="0">
                    <a:solidFill>
                      <a:srgbClr val="0E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what we do about it</a:t>
                      </a:r>
                    </a:p>
                  </a:txBody>
                  <a:tcPr anchor="ctr" marL="91440" marR="91440" marT="0" marB="0">
                    <a:solidFill>
                      <a:srgbClr val="0E3A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01A28"/>
                          </a:solidFill>
                          <a:latin typeface="Segoe UI"/>
                        </a:rPr>
                        <a:t>n = 2 attack episodes, one host</a:t>
                      </a:r>
                    </a:p>
                  </a:txBody>
                  <a:tcPr anchor="ctr" marL="91440" marR="91440" marT="0" marB="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01A28"/>
                          </a:solidFill>
                          <a:latin typeface="Segoe UI"/>
                        </a:rPr>
                        <a:t>publish the exact binomial CI</a:t>
                      </a:r>
                    </a:p>
                  </a:txBody>
                  <a:tcPr anchor="ctr" marL="91440" marR="91440" marT="0" marB="0">
                    <a:solidFill>
                      <a:srgbClr val="EEF3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01A28"/>
                          </a:solidFill>
                          <a:latin typeface="Segoe UI"/>
                        </a:rPr>
                        <a:t>3 of 7 kill-chain stages have no labels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01A28"/>
                          </a:solidFill>
                          <a:latin typeface="Segoe UI"/>
                        </a:rPr>
                        <a:t>no per-class metric is published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01A28"/>
                          </a:solidFill>
                          <a:latin typeface="Segoe UI"/>
                        </a:rPr>
                        <a:t>the k-step head fires at no FPR budget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01A28"/>
                          </a:solidFill>
                          <a:latin typeface="Segoe UI"/>
                        </a:rPr>
                        <a:t>ship horizon-0 precursor detection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01A28"/>
                          </a:solidFill>
                          <a:latin typeface="Segoe UI"/>
                        </a:rPr>
                        <a:t>a 1 % FPR budget means many alerts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01A28"/>
                          </a:solidFill>
                          <a:latin typeface="Segoe UI"/>
                        </a:rPr>
                        <a:t>coalesce alerts; a 0.1 % budget exists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01A28"/>
                          </a:solidFill>
                          <a:latin typeface="Segoe UI"/>
                        </a:rPr>
                        <a:t>the packet parser is IPv4-only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01A28"/>
                          </a:solidFill>
                          <a:latin typeface="Segoe UI"/>
                        </a:rPr>
                        <a:t>every skipped frame is counted and shown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deck-footer"/>
          <p:cNvSpPr txBox="1"/>
          <p:nvPr/>
        </p:nvSpPr>
        <p:spPr>
          <a:xfrm>
            <a:off x="566928" y="6345936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556272"/>
                </a:solidFill>
                <a:latin typeface="Segoe UI"/>
              </a:rPr>
              <a:t>SIH26153 · NTRO · idea round · built from docs/idea_round.md by scripts/build_idea_deck.py</a:t>
            </a:r>
          </a:p>
        </p:txBody>
      </p:sp>
      <p:sp>
        <p:nvSpPr>
          <p:cNvPr id="8" name="deck-footer-number"/>
          <p:cNvSpPr txBox="1"/>
          <p:nvPr/>
        </p:nvSpPr>
        <p:spPr>
          <a:xfrm>
            <a:off x="10527487" y="6345936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556272"/>
                </a:solidFill>
                <a:latin typeface="Segoe U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-accent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A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deck-title"/>
          <p:cNvSpPr txBox="1"/>
          <p:nvPr/>
        </p:nvSpPr>
        <p:spPr>
          <a:xfrm>
            <a:off x="566928" y="365760"/>
            <a:ext cx="11057839" cy="4566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3100" b="1" i="0">
                <a:solidFill>
                  <a:srgbClr val="101A28"/>
                </a:solidFill>
                <a:latin typeface="Segoe UI"/>
              </a:rPr>
              <a:t>Impact and Benefits</a:t>
            </a:r>
          </a:p>
        </p:txBody>
      </p:sp>
      <p:sp>
        <p:nvSpPr>
          <p:cNvPr id="4" name="deck-title-rule"/>
          <p:cNvSpPr/>
          <p:nvPr/>
        </p:nvSpPr>
        <p:spPr>
          <a:xfrm>
            <a:off x="566928" y="913892"/>
            <a:ext cx="1920240" cy="41148"/>
          </a:xfrm>
          <a:prstGeom prst="rect">
            <a:avLst/>
          </a:prstGeom>
          <a:solidFill>
            <a:srgbClr val="1A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deck-headline"/>
          <p:cNvSpPr txBox="1"/>
          <p:nvPr/>
        </p:nvSpPr>
        <p:spPr>
          <a:xfrm>
            <a:off x="566928" y="1151636"/>
            <a:ext cx="11057839" cy="35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300" b="0" i="0">
                <a:solidFill>
                  <a:srgbClr val="0E3A5C"/>
                </a:solidFill>
                <a:latin typeface="Segoe UI"/>
              </a:rPr>
              <a:t>Triage starts from evidence; the record still verifies at the review.</a:t>
            </a:r>
          </a:p>
        </p:txBody>
      </p:sp>
      <p:sp>
        <p:nvSpPr>
          <p:cNvPr id="6" name="deck-points"/>
          <p:cNvSpPr txBox="1"/>
          <p:nvPr/>
        </p:nvSpPr>
        <p:spPr>
          <a:xfrm>
            <a:off x="566928" y="1745742"/>
            <a:ext cx="11057839" cy="24894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▪  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Social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— a defender gets evidence, not a score: top-5 named features, the windows where the attack formed, an ATT&amp;CK technique</a:t>
            </a:r>
          </a:p>
          <a:p>
            <a:pPr marL="292608" indent="-292608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▪  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Economic and environmental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— Apache-2.0 and fully offline: an air-gapped lab or CERT runs it with no licence and no cloud egress</a:t>
            </a:r>
          </a:p>
          <a:p>
            <a:pPr marL="292608" indent="-292608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▪  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Evidentiary — the theme done as provenance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— append-only hash chain, per-batch Merkle roots, anchored checkpoints, verified offline</a:t>
            </a:r>
          </a:p>
          <a:p>
            <a:pPr marL="292608" indent="-292608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▪  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Methodological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— the evaluation protocol is published </a:t>
            </a:r>
            <a:r>
              <a:rPr sz="1700" b="0" i="1">
                <a:solidFill>
                  <a:srgbClr val="101A28"/>
                </a:solidFill>
                <a:latin typeface="Segoe UI"/>
              </a:rPr>
              <a:t>before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the result</a:t>
            </a:r>
          </a:p>
        </p:txBody>
      </p:sp>
      <p:sp>
        <p:nvSpPr>
          <p:cNvPr id="7" name="deck-band"/>
          <p:cNvSpPr/>
          <p:nvPr/>
        </p:nvSpPr>
        <p:spPr>
          <a:xfrm>
            <a:off x="566928" y="4436364"/>
            <a:ext cx="11057839" cy="1241298"/>
          </a:xfrm>
          <a:prstGeom prst="rect">
            <a:avLst/>
          </a:prstGeom>
          <a:solidFill>
            <a:srgbClr val="FDF3E0"/>
          </a:solidFill>
          <a:ln w="15875">
            <a:solidFill>
              <a:srgbClr val="C1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eck-band-edge"/>
          <p:cNvSpPr/>
          <p:nvPr/>
        </p:nvSpPr>
        <p:spPr>
          <a:xfrm>
            <a:off x="566928" y="4436364"/>
            <a:ext cx="68580" cy="1241298"/>
          </a:xfrm>
          <a:prstGeom prst="rect">
            <a:avLst/>
          </a:prstGeom>
          <a:solidFill>
            <a:srgbClr val="C1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eck-band-label"/>
          <p:cNvSpPr txBox="1"/>
          <p:nvPr/>
        </p:nvSpPr>
        <p:spPr>
          <a:xfrm>
            <a:off x="822960" y="4546092"/>
            <a:ext cx="10545775" cy="2240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6B400A"/>
                </a:solidFill>
                <a:latin typeface="Segoe UI"/>
              </a:rPr>
              <a:t>MEASURED LEAD TIME — AND WHAT IT DOES NOT PROVE</a:t>
            </a:r>
          </a:p>
        </p:txBody>
      </p:sp>
      <p:sp>
        <p:nvSpPr>
          <p:cNvPr id="10" name="deck-band-text"/>
          <p:cNvSpPr txBox="1"/>
          <p:nvPr/>
        </p:nvSpPr>
        <p:spPr>
          <a:xfrm>
            <a:off x="822960" y="4824984"/>
            <a:ext cx="10545775" cy="742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101A28"/>
                </a:solidFill>
                <a:latin typeface="Segoe UI"/>
              </a:rPr>
              <a:t>Horizon-0, test day: alerts on </a:t>
            </a:r>
            <a:r>
              <a:rPr sz="1500" b="1" i="0">
                <a:solidFill>
                  <a:srgbClr val="101A28"/>
                </a:solidFill>
                <a:latin typeface="Segoe UI"/>
              </a:rPr>
              <a:t>2/2</a:t>
            </a:r>
            <a:r>
              <a:rPr sz="1500" b="0" i="0">
                <a:solidFill>
                  <a:srgbClr val="101A28"/>
                </a:solidFill>
                <a:latin typeface="Segoe UI"/>
              </a:rPr>
              <a:t> attack episodes, median </a:t>
            </a:r>
            <a:r>
              <a:rPr sz="1500" b="1" i="0">
                <a:solidFill>
                  <a:srgbClr val="101A28"/>
                </a:solidFill>
                <a:latin typeface="Segoe UI"/>
              </a:rPr>
              <a:t>70 min</a:t>
            </a:r>
            <a:r>
              <a:rPr sz="1500" b="0" i="0">
                <a:solidFill>
                  <a:srgbClr val="101A28"/>
                </a:solidFill>
                <a:latin typeface="Segoe UI"/>
              </a:rPr>
              <a:t> before completion. But </a:t>
            </a:r>
            <a:r>
              <a:rPr sz="1500" b="1" i="0">
                <a:solidFill>
                  <a:srgbClr val="101A28"/>
                </a:solidFill>
                <a:latin typeface="Segoe UI"/>
              </a:rPr>
              <a:t>n = 2, both sessions of one attacker host</a:t>
            </a:r>
            <a:r>
              <a:rPr sz="1500" b="0" i="0">
                <a:solidFill>
                  <a:srgbClr val="101A28"/>
                </a:solidFill>
                <a:latin typeface="Segoe UI"/>
              </a:rPr>
              <a:t> (exact binomial 95 % lower bound 15.8 %), and at this budget lead time </a:t>
            </a:r>
            <a:r>
              <a:rPr sz="1500" b="1" i="0">
                <a:solidFill>
                  <a:srgbClr val="101A28"/>
                </a:solidFill>
                <a:latin typeface="Segoe UI"/>
              </a:rPr>
              <a:t>does not separate from a matched-budget random baseline</a:t>
            </a:r>
            <a:r>
              <a:rPr sz="1500" b="0" i="0">
                <a:solidFill>
                  <a:srgbClr val="101A28"/>
                </a:solidFill>
                <a:latin typeface="Segoe UI"/>
              </a:rPr>
              <a:t>.</a:t>
            </a:r>
          </a:p>
        </p:txBody>
      </p:sp>
      <p:sp>
        <p:nvSpPr>
          <p:cNvPr id="11" name="deck-footer"/>
          <p:cNvSpPr txBox="1"/>
          <p:nvPr/>
        </p:nvSpPr>
        <p:spPr>
          <a:xfrm>
            <a:off x="566928" y="6345936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556272"/>
                </a:solidFill>
                <a:latin typeface="Segoe UI"/>
              </a:rPr>
              <a:t>SIH26153 · NTRO · idea round · built from docs/idea_round.md by scripts/build_idea_deck.py</a:t>
            </a:r>
          </a:p>
        </p:txBody>
      </p:sp>
      <p:sp>
        <p:nvSpPr>
          <p:cNvPr id="12" name="deck-footer-number"/>
          <p:cNvSpPr txBox="1"/>
          <p:nvPr/>
        </p:nvSpPr>
        <p:spPr>
          <a:xfrm>
            <a:off x="10527487" y="6345936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556272"/>
                </a:solidFill>
                <a:latin typeface="Segoe U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-accent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A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deck-title"/>
          <p:cNvSpPr txBox="1"/>
          <p:nvPr/>
        </p:nvSpPr>
        <p:spPr>
          <a:xfrm>
            <a:off x="566928" y="365760"/>
            <a:ext cx="11057839" cy="4566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3100" b="1" i="0">
                <a:solidFill>
                  <a:srgbClr val="101A28"/>
                </a:solidFill>
                <a:latin typeface="Segoe UI"/>
              </a:rPr>
              <a:t>Research and References</a:t>
            </a:r>
          </a:p>
        </p:txBody>
      </p:sp>
      <p:sp>
        <p:nvSpPr>
          <p:cNvPr id="4" name="deck-title-rule"/>
          <p:cNvSpPr/>
          <p:nvPr/>
        </p:nvSpPr>
        <p:spPr>
          <a:xfrm>
            <a:off x="566928" y="913892"/>
            <a:ext cx="1920240" cy="41148"/>
          </a:xfrm>
          <a:prstGeom prst="rect">
            <a:avLst/>
          </a:prstGeom>
          <a:solidFill>
            <a:srgbClr val="1A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deck-points"/>
          <p:cNvSpPr txBox="1"/>
          <p:nvPr/>
        </p:nvSpPr>
        <p:spPr>
          <a:xfrm>
            <a:off x="566928" y="1151636"/>
            <a:ext cx="11057839" cy="48326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▪  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Dataset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— CSE-CIC-IDS2018, CSE &amp; Canadian Institute for Cybersecurity, UNB — </a:t>
            </a:r>
            <a:r>
              <a:rPr sz="1700" b="0" i="0">
                <a:solidFill>
                  <a:srgbClr val="101A28"/>
                </a:solidFill>
                <a:latin typeface="Consolas"/>
              </a:rPr>
              <a:t>unb.ca/cic/datasets/ids-2018.html</a:t>
            </a:r>
          </a:p>
          <a:p>
            <a:pPr marL="292608" indent="-292608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▪  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Dataset defects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— Liu, Engelen, Lynar, Essam, Joosen, </a:t>
            </a:r>
            <a:r>
              <a:rPr sz="1700" b="0" i="1">
                <a:solidFill>
                  <a:srgbClr val="101A28"/>
                </a:solidFill>
                <a:latin typeface="Segoe UI"/>
              </a:rPr>
              <a:t>Error Prevalence in NIDS datasets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, IEEE CNS 2022, doi:10.1109/CNS56114.2022.9947235</a:t>
            </a:r>
          </a:p>
          <a:p>
            <a:pPr marL="292608" indent="-292608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▪  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Deployed scorer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— Chen &amp; Guestrin, </a:t>
            </a:r>
            <a:r>
              <a:rPr sz="1700" b="0" i="1">
                <a:solidFill>
                  <a:srgbClr val="101A28"/>
                </a:solidFill>
                <a:latin typeface="Segoe UI"/>
              </a:rPr>
              <a:t>XGBoost: A Scalable Tree Boosting System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, KDD 2016 — arXiv:1603.02754</a:t>
            </a:r>
          </a:p>
          <a:p>
            <a:pPr marL="292608" indent="-292608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▪  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Explanations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— Lundberg et al., </a:t>
            </a:r>
            <a:r>
              <a:rPr sz="1700" b="0" i="1">
                <a:solidFill>
                  <a:srgbClr val="101A28"/>
                </a:solidFill>
                <a:latin typeface="Segoe UI"/>
              </a:rPr>
              <a:t>Explainable AI for Trees: From Local Explanations to Global Understanding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— arXiv:1905.04610</a:t>
            </a:r>
          </a:p>
          <a:p>
            <a:pPr marL="292608" indent="-292608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▪  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Temporal graph encoder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— Rossi, Chamberlain, Frasca, Eynard, Monti, Bronstein, </a:t>
            </a:r>
            <a:r>
              <a:rPr sz="1700" b="0" i="1">
                <a:solidFill>
                  <a:srgbClr val="101A28"/>
                </a:solidFill>
                <a:latin typeface="Segoe UI"/>
              </a:rPr>
              <a:t>Temporal Graph Networks for Deep Learning on Dynamic Graphs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— arXiv:2006.10637</a:t>
            </a:r>
          </a:p>
          <a:p>
            <a:pPr marL="292608" indent="-292608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▪  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Uncertainty head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— Sensoy, Kaplan, Kandemir, </a:t>
            </a:r>
            <a:r>
              <a:rPr sz="1700" b="0" i="1">
                <a:solidFill>
                  <a:srgbClr val="101A28"/>
                </a:solidFill>
                <a:latin typeface="Segoe UI"/>
              </a:rPr>
              <a:t>Evidential Deep Learning to Quantify Classification Uncertainty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, NeurIPS 2018 — arXiv:1806.01768</a:t>
            </a:r>
          </a:p>
          <a:p>
            <a:pPr marL="292608" indent="-292608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▪  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Append-only log design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— Merkle-tree logs as specified in RFC 6962 (Laurie, Langley, Kasper, 2013); attack taxonomy from MITRE ATT&amp;CK, </a:t>
            </a:r>
            <a:r>
              <a:rPr sz="1700" b="0" i="0">
                <a:solidFill>
                  <a:srgbClr val="101A28"/>
                </a:solidFill>
                <a:latin typeface="Consolas"/>
              </a:rPr>
              <a:t>attack.mitre.org</a:t>
            </a:r>
          </a:p>
        </p:txBody>
      </p:sp>
      <p:sp>
        <p:nvSpPr>
          <p:cNvPr id="6" name="deck-footer"/>
          <p:cNvSpPr txBox="1"/>
          <p:nvPr/>
        </p:nvSpPr>
        <p:spPr>
          <a:xfrm>
            <a:off x="566928" y="6345936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556272"/>
                </a:solidFill>
                <a:latin typeface="Segoe UI"/>
              </a:rPr>
              <a:t>SIH26153 · NTRO · idea round · built from docs/idea_round.md by scripts/build_idea_deck.py</a:t>
            </a:r>
          </a:p>
        </p:txBody>
      </p:sp>
      <p:sp>
        <p:nvSpPr>
          <p:cNvPr id="7" name="deck-footer-number"/>
          <p:cNvSpPr txBox="1"/>
          <p:nvPr/>
        </p:nvSpPr>
        <p:spPr>
          <a:xfrm>
            <a:off x="10527487" y="6345936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556272"/>
                </a:solidFill>
                <a:latin typeface="Segoe U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SIH26153 — idea round — AI based Network Attack Forecasting from Network Traffic Data</dc:title>
  <dc:subject>SIH 2026 idea round · problem statement SIH26153 (NTRO)</dc:subject>
  <dc:creator>SIH26153 team</dc:creator>
  <cp:keywords>sih26-idea-deck-source-sha256=786637f15a0ac65be2791f3e6b3cf5ab03dfb7dedee7a85e90a5807f1d799b94</cp:keywords>
  <dc:description>Generated from docs/idea_round.md — edit the markdown, not this file. Export to PDF before uploading: the SIH portal takes PDF.</dc:description>
  <cp:lastModifiedBy>scripts/build_idea_deck.py</cp:lastModifiedBy>
  <cp:revision>1</cp:revision>
  <dcterms:created xsi:type="dcterms:W3CDTF">2026-01-01T00:00:00Z</dcterms:created>
  <dcterms:modified xsi:type="dcterms:W3CDTF">2026-01-01T00:00:00Z</dcterms:modified>
  <cp:category/>
</cp:coreProperties>
</file>
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**AI-based network attack forecasting (SIH26153, NTRO)**</a:t>
            </a:r>
          </a:p>
          <a:p/>
          <a:p>
            <a:r>
              <a:t>Most IDS work answers *"is this flow malicious?"* — after the fact. The problem statement asks</a:t>
            </a:r>
          </a:p>
          <a:p>
            <a:r>
              <a:t>something harder: given traffic up to time *t*, **forecast** the infiltration probability and</a:t>
            </a:r>
          </a:p>
          <a:p>
            <a:r>
              <a:t>ATT&amp;CK stage at *t+k*, explain it, and make the record tamper-evident.</a:t>
            </a:r>
          </a:p>
          <a:p/>
          <a:p>
            <a:r>
              <a:t>**Say the band out loud; it is the frame for everything after it.** That is the PS's ask in the</a:t>
            </a:r>
          </a:p>
          <a:p>
            <a:r>
              <a:t>headline, not a capability claim, and the band is what we actually measured against it. The</a:t>
            </a:r>
          </a:p>
          <a:p>
            <a:r>
              <a:t>k-step head has **no supported forward operating point**: at the shipped 1 % FPR budget it fires</a:t>
            </a:r>
          </a:p>
          <a:p>
            <a:r>
              <a:t>on 0 of 2 episodes at k = 1, 4 *and* 8, and the oracle-threshold analysis says that is a ranking</a:t>
            </a:r>
          </a:p>
          <a:p>
            <a:r>
              <a:t>limit, not a threshold we forgot to retune. What it does have is a real but modest ranking</a:t>
            </a:r>
          </a:p>
          <a:p>
            <a:r>
              <a:t>signal — test AUROC 0.844 at k=4 and 0.842 at k=8 — carrying one further caveat a judge should</a:t>
            </a:r>
          </a:p>
          <a:p>
            <a:r>
              <a:t>hear: the k-step *target* is 93–96 % identical to the nowcast target, so ranking it well is close</a:t>
            </a:r>
          </a:p>
          <a:p>
            <a:r>
              <a:t>to ranking the present well. Every lead-time number in this deck comes from the **horizon-0**</a:t>
            </a:r>
          </a:p>
          <a:p>
            <a:r>
              <a:t>classifier. Sources: `docs/limitations.md` §4 and "Also worth knowing",</a:t>
            </a:r>
          </a:p>
          <a:p>
            <a:r>
              <a:t>`tier1_hardening_report.md`.</a:t>
            </a:r>
          </a:p>
          <a:p/>
          <a:p>
            <a:r>
              <a:t>The graded LR baseline is trained and scored on the **identical feature matrix**, which is what</a:t>
            </a:r>
          </a:p>
          <a:p>
            <a:r>
              <a:t>makes the comparison on slide 3 fair rather than flattering; everything is Apache-2.0.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**Packet + flow features**: TTL variance, TCP window, fragment flags, payload histogram,</a:t>
            </a:r>
          </a:p>
          <a:p>
            <a:r>
              <a:t>  **sequential-vs-random scan signature**, retransmissions — 110k packets/s, bounded memory</a:t>
            </a:r>
          </a:p>
          <a:p>
            <a:r>
              <a:t>- **Causality is enforced, not assumed**: features are strictly window-bounded, graph edges are</a:t>
            </a:r>
          </a:p>
          <a:p>
            <a:r>
              <a:t>  stamped at flow *end*, and the encoder is causal — `test_no_future_leakage` proves perturbing</a:t>
            </a:r>
          </a:p>
          <a:p>
            <a:r>
              <a:t>  the future leaves the past **bit-identical**</a:t>
            </a:r>
          </a:p>
          <a:p>
            <a:r>
              <a:t>- **Identity is anonymised**: keyed-HMAC pseudonyms, per-epoch permutation, role-only node</a:t>
            </a:r>
          </a:p>
          <a:p>
            <a:r>
              <a:t>  features. No raw IP reaches the model or the ledger.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= a **bot** day; trained on **brute-force + DoS** days. Nothing about the test family was</a:t>
            </a:r>
          </a:p>
          <a:p>
            <a:r>
              <a:t>seen in training. 1 % FPR budget.</a:t>
            </a:r>
          </a:p>
          <a:p/>
          <a:p>
            <a:r>
              <a:t>**Early warning:** both attack episodes are flagged **~49 and ~91 minutes before completion**</a:t>
            </a:r>
          </a:p>
          <a:p>
            <a:r>
              <a:t>(median ~70 min) at a 1 % false-positive budget — *precursor detection* on live windows, the</a:t>
            </a:r>
          </a:p>
          <a:p>
            <a:r>
              <a:t>PS's own lead-time definition. That whole column is the **horizon-0** classifier; the band above</a:t>
            </a:r>
          </a:p>
          <a:p>
            <a:r>
              <a:t>the table and the column header both say so, because it is the one number in this deck a judge</a:t>
            </a:r>
          </a:p>
          <a:p>
            <a:r>
              <a:t>is most likely to read as evidence of forecasting ahead. Forecasting **ahead** is a **ranking**</a:t>
            </a:r>
          </a:p>
          <a:p>
            <a:r>
              <a:t>result only (test AUROC 0.844 at k=4, 0.842 at k=8) with **no operating point that fires** at</a:t>
            </a:r>
          </a:p>
          <a:p>
            <a:r>
              <a:t>the 1 % budget — 0 of 2 episodes at k = 1, 4 and 8, and the oracle check says that is a ranking</a:t>
            </a:r>
          </a:p>
          <a:p>
            <a:r>
              <a:t>limit rather than a threshold waiting to be retuned. Every number is under one standardised key</a:t>
            </a:r>
          </a:p>
          <a:p>
            <a:r>
              <a:t>**and enforced training determinism** — repeated runs are bit-identical.</a:t>
            </a:r>
          </a:p>
          <a:p/>
          <a:p>
            <a:r>
              <a:t>*Caveats carried with this claim, from our own adversarial audit:* n = 2 episodes, both sessions</a:t>
            </a:r>
          </a:p>
          <a:p>
            <a:r>
              <a:t>of one attacker host — the exact 95 % CI for 2/2 is [0.158, 1.000]; **at this alert budget lead</a:t>
            </a:r>
          </a:p>
          <a:p>
            <a:r>
              <a:t>time does not separate from a matched-budget random baseline** (uniform noise scores</a:t>
            </a:r>
          </a:p>
          <a:p>
            <a:r>
              <a:t>4,882–5,110 s, 2/2), so the *lead-time* row is evidence the budget is generous, not that the</a:t>
            </a:r>
          </a:p>
          <a:p>
            <a:r>
              <a:t>model is clairvoyant — **AUROC is where the model earns its place**; detection is carried by the</a:t>
            </a:r>
          </a:p>
          <a:p>
            <a:r>
              <a:t>XGBoost member, not the temporal-graph component; AUROC/F1 are inflated by row multiplicity</a:t>
            </a:r>
          </a:p>
          <a:p>
            <a:r>
              <a:t>(de-duplicated ≈ 0.89 / 0.04) and by benign subsampling. See `tier1_hardening_report.md` →</a:t>
            </a:r>
          </a:p>
          <a:p>
            <a:r>
              <a:t>Limitations &amp; Confidence.</a:t>
            </a:r>
          </a:p>
          <a:p/>
          <a:p>
            <a:r>
              <a:t>*And which row the live demo actually is:* the fused row is an **evaluation-side** result.</a:t>
            </a:r>
          </a:p>
          <a:p>
            <a:r>
              <a:t>`engine/predict.py` loads one booster and calls `predict_proba` once — the deployed engine is a</a:t>
            </a:r>
          </a:p>
          <a:p>
            <a:r>
              <a:t>**single XGBoost model**, so the demo a judge runs corresponds to the **XGBoost row**, not the</a:t>
            </a:r>
          </a:p>
          <a:p>
            <a:r>
              <a:t>fused one. Engine-side fusion is on the roadmap (slide 5's band), not in the shipped binary. If</a:t>
            </a:r>
          </a:p>
          <a:p>
            <a:r>
              <a:t>a judge asks whether the demo is the 0.933 system, the answer is no, and this is where you say so.</a:t>
            </a:r>
          </a:p>
          <a:p/>
          <a:p>
            <a:r>
              <a:t>**What is actually new here** (the caveats above are about the *numbers*, not the contribution):</a:t>
            </a:r>
          </a:p>
          <a:p/>
          <a:p>
            <a:r>
              <a:t>1. **A lead-time-at-fixed-FPR protocol that is honest by construction** — undetected episodes</a:t>
            </a:r>
          </a:p>
          <a:p>
            <a:r>
              <a:t>   count as 0 s and are never dropped, the threshold is fitted on validation and never on test,</a:t>
            </a:r>
          </a:p>
          <a:p>
            <a:r>
              <a:t>   splits are attack-family-disjoint, and the result is published **beside a chance baseline**.</a:t>
            </a:r>
          </a:p>
          <a:p>
            <a:r>
              <a:t>   Most published work on this dataset reports random-split accuracy, which leaks whole attack</a:t>
            </a:r>
          </a:p>
          <a:p>
            <a:r>
              <a:t>   episodes across train and test.</a:t>
            </a:r>
          </a:p>
          <a:p>
            <a:r>
              <a:t>2. **Decorrelated rank fusion as a robustness mechanism** — the members' errors are nearly</a:t>
            </a:r>
          </a:p>
          <a:p>
            <a:r>
              <a:t>   uncorrelated (ρ = 0.05), and the payoff is measurable: when the determinism fix cost the TGN</a:t>
            </a:r>
          </a:p>
          <a:p>
            <a:r>
              <a:t>   encoder 0.037 AUROC, single-model rows swung by up to 0.56 while the **fused headline moved</a:t>
            </a:r>
          </a:p>
          <a:p>
            <a:r>
              <a:t>   0.009**.</a:t>
            </a:r>
          </a:p>
          <a:p>
            <a:r>
              <a:t>3. **A ledger that refuses to lie about its own provenance** — the engine will not write a</a:t>
            </a:r>
          </a:p>
          <a:p>
            <a:r>
              <a:t>   record if the model weights' SHA-256 does not match, so a ledger entry can never claim a</a:t>
            </a:r>
          </a:p>
          <a:p>
            <a:r>
              <a:t>   model it did not run.</a:t>
            </a:r>
          </a:p>
          <a:p/>
          <a:p>
            <a:r>
              <a:t>&gt; Temporal host *dynamics* transfer across attack families. Static flow signatures do not —</a:t>
            </a:r>
          </a:p>
          <a:p>
            <a:r>
              <a:t>&gt; the linear baseline is at chance on an unseen family.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**Explainability is mandatory, so we made black-box output impossible.**</a:t>
            </a:r>
          </a:p>
          <a:p>
            <a:r>
              <a:t>Every alert carries top-5 **named** features (`payload_hist_0`, `distinct_dst_ips`, `syn`…),</a:t>
            </a:r>
          </a:p>
          <a:p>
            <a:r>
              <a:t>a MITRE technique (T1046 / T1110 / T1071 / T1498 / T1048), and the flagged flows in that window.</a:t>
            </a:r>
          </a:p>
          <a:p>
            <a:r>
              <a:t>A test fails the build if an explanation returns an index instead of a feature name.</a:t>
            </a:r>
          </a:p>
          <a:p/>
          <a:p>
            <a:r>
              <a:t>**Tamper-evident ledger** (the Blockchain &amp; Cybersecurity theme, done honestly):</a:t>
            </a:r>
          </a:p>
          <a:p/>
          <a:p>
            <a:r>
              <a:t>- Append-only **hash chain** + per-batch **Merkle roots**; HMAC pseudonyms, never raw IPs</a:t>
            </a:r>
          </a:p>
          <a:p>
            <a:r>
              <a:t>- Edit one record → the verifier names its **exact index**</a:t>
            </a:r>
          </a:p>
          <a:p>
            <a:r>
              <a:t>- Rewrite the chain self-consistently → caught: the head no longer matches the **signed,</a:t>
            </a:r>
          </a:p>
          <a:p>
            <a:r>
              <a:t>  chained checkpoint** (each checkpoint signs the previous one's signature, and only the last</a:t>
            </a:r>
          </a:p>
          <a:p>
            <a:r>
              <a:t>  may anchor)</a:t>
            </a:r>
          </a:p>
          <a:p>
            <a:r>
              <a:t>- Delete a record, or splice the checkpoint log → caught</a:t>
            </a:r>
          </a:p>
          <a:p>
            <a:r>
              <a:t>- The engine **refuses to write** if the model weights' SHA-256 does not match</a:t>
            </a:r>
          </a:p>
          <a:p>
            <a:r>
              <a:t>- `python -m ledger.verify_cli` — a judge verifies **offline**</a:t>
            </a:r>
          </a:p>
          <a:p/>
          <a:p>
            <a:r>
              <a:t>**And the attack we could *not* close, because we went looking for it:** truncating the chain</a:t>
            </a:r>
          </a:p>
          <a:p>
            <a:r>
              <a:t>**and** its checkpoint log together, discarding the tail of both, leaves two files that agree</a:t>
            </a:r>
          </a:p>
          <a:p>
            <a:r>
              <a:t>with each other. No scheme confined to those two files can detect it — nothing inside them</a:t>
            </a:r>
          </a:p>
          <a:p>
            <a:r>
              <a:t>records that the run continued. It is closed by publishing the anchor line</a:t>
            </a:r>
          </a:p>
          <a:p>
            <a:r>
              <a:t>(`scripts/anchor_checkpoint.py`) **before** the demo, which is why that step exists. The</a:t>
            </a:r>
          </a:p>
          <a:p>
            <a:r>
              <a:t>limitation is stated in the module docstring, in the verifier's own output, and in</a:t>
            </a:r>
          </a:p>
          <a:p>
            <a:r>
              <a:t>`docs/limitations.md` — not discovered by the judge.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**Three kill-chain stages have zero public data.** `recon`, `lateral_movement` and</a:t>
            </a:r>
          </a:p>
          <a:p>
            <a:r>
              <a:t>   `exfiltration` have no labelled windows in CIC-IDS-2018, so **we report no metric for them**</a:t>
            </a:r>
          </a:p>
          <a:p>
            <a:r>
              <a:t>   rather than invent one. That is precisely what the lab capture is for.</a:t>
            </a:r>
          </a:p>
          <a:p>
            <a:r>
              <a:t>2. **Four attack days ⇒ family-disjoint splits.** This makes our headline an honest</a:t>
            </a:r>
          </a:p>
          <a:p>
            <a:r>
              <a:t>   cross-family test, but multi-class stage metrics are not meaningfully trainable.</a:t>
            </a:r>
          </a:p>
          <a:p>
            <a:r>
              <a:t>3. **CSV cannot carry packet features.** The PS accepts CSV *or* PCAP; a CSV physically lacks</a:t>
            </a:r>
          </a:p>
          <a:p>
            <a:r>
              <a:t>   TTL/window/payload/scan/retransmission data. The engine runs a flow-only model on CSV and</a:t>
            </a:r>
          </a:p>
          <a:p>
            <a:r>
              <a:t>   warns; **feed it a PCAP** for full quality.</a:t>
            </a:r>
          </a:p>
          <a:p>
            <a:r>
              <a:t>4. **The world model we planned failed.** The RSSM rollout collapsed its posterior and detected</a:t>
            </a:r>
          </a:p>
          <a:p>
            <a:r>
              <a:t>   **0/2** episodes — worse than the embeddings it consumed. A tuned retry recovered ranking</a:t>
            </a:r>
          </a:p>
          <a:p>
            <a:r>
              <a:t>   (0.683 → 0.851 AUROC) but still 0/2. We ship the encoder that works and publish the RSSM as a</a:t>
            </a:r>
          </a:p>
          <a:p>
            <a:r>
              <a:t>   **negative result with its recipe**.</a:t>
            </a:r>
          </a:p>
          <a:p>
            <a:r>
              <a:t>5. **The packet parser is IPv4-only.** `data/packet_features.py` reads a frame only when its</a:t>
            </a:r>
          </a:p>
          <a:p>
            <a:r>
              <a:t>   ethertype is `0x0800`; a VLAN tag is unwrapped and the inner ethertype used, and everything</a:t>
            </a:r>
          </a:p>
          <a:p>
            <a:r>
              <a:t>   else — IPv6 (`0x86DD`), frames too short to hold an IPv4 header, truncated IP headers — is</a:t>
            </a:r>
          </a:p>
          <a:p>
            <a:r>
              <a:t>   skipped before it can become a row, so **IPv6 is absent from all 30 features**. QUIC is not</a:t>
            </a:r>
          </a:p>
          <a:p>
            <a:r>
              <a:t>   skipped but is seen as opaque UDP. What the system refuses to do is be silent about it, because</a:t>
            </a:r>
          </a:p>
          <a:p>
            <a:r>
              <a:t>   "0 alerts" must never be indistinguishable from "nothing happened": every skipped frame is</a:t>
            </a:r>
          </a:p>
          <a:p>
            <a:r>
              <a:t>   counted against a named reason (`DROP_REASONS` in `data/packet_features.py`),</a:t>
            </a:r>
          </a:p>
          <a:p>
            <a:r>
              <a:t>   `engine/predict.py` turns those counters into an `unparsed_frames` block that reaches the</a:t>
            </a:r>
          </a:p>
          <a:p>
            <a:r>
              <a:t>   `predict_file` return value, `run_summary.json` and the Streamlit page, and</a:t>
            </a:r>
          </a:p>
          <a:p>
            <a:r>
              <a:t>   `tests/test_packet_features.py::test_ipv6_scan_is_counted_not_silently_dropped` pins it —</a:t>
            </a:r>
          </a:p>
          <a:p>
            <a:r>
              <a:t>   a 200-frame IPv6 scan must yield 0 rows **and** `drops["ipv6"] == 200`. Counted is not parsed:</a:t>
            </a:r>
          </a:p>
          <a:p>
            <a:r>
              <a:t>   an IPv6-only capture still produces no features, no forecasts and no ledger records. Closing</a:t>
            </a:r>
          </a:p>
          <a:p>
            <a:r>
              <a:t>   the gap means a parse path, not a better counter — `docs/limitations.md` §5,</a:t>
            </a:r>
          </a:p>
          <a:p>
            <a:r>
              <a:t>   `docs/roadmap.md` §1.10.</a:t>
            </a:r>
          </a:p>
          <a:p/>
          <a:p>
            <a:r>
              <a:t>**These five are `docs/limitations.md`'s five, in its order** — the slide's title sends a judge</a:t>
            </a:r>
          </a:p>
          <a:p>
            <a:r>
              <a:t>to that document, so the slide must not be a different list. The next paragraph is a limitation</a:t>
            </a:r>
          </a:p>
          <a:p>
            <a:r>
              <a:t>that document does not number; it is on the slide, in the band, but not inside the numbered five.</a:t>
            </a:r>
          </a:p>
          <a:p/>
          <a:p>
            <a:r>
              <a:t>**And one the numbered list does not carry: an adaptive attacker defeats several of the mandated</a:t>
            </a:r>
          </a:p>
          <a:p>
            <a:r>
              <a:t>packet features at zero cost** — and we measured the cost rather than guessing it. Jittering the</a:t>
            </a:r>
          </a:p>
          <a:p>
            <a:r>
              <a:t>attacker's own TTL and TCP window turns a deterministic `ttl_var` of **0.000** into a large one</a:t>
            </a:r>
          </a:p>
          <a:p>
            <a:r>
              <a:t>for free; re-chunking a 1400 B payload into 3×466 B moves **100 %** of the payload-histogram mass</a:t>
            </a:r>
          </a:p>
          <a:p>
            <a:r>
              <a:t>into a different bin while delivering the same bytes (the bin edges are a committed config value);</a:t>
            </a:r>
          </a:p>
          <a:p>
            <a:r>
              <a:t>pacing an attack 15× thins every per-window aggregate, which is enough to re-label a port scan</a:t>
            </a:r>
          </a:p>
          <a:p>
            <a:r>
              <a:t>from `recon` to `c2`. These features are attacker-*written*, not observed. Full analysis —</a:t>
            </a:r>
          </a:p>
          <a:p>
            <a:r>
              <a:t>including which features are expensive to fake, which is where the defence actually lives — is in</a:t>
            </a:r>
          </a:p>
          <a:p>
            <a:r>
              <a:t>[docs/threat_model.md](threat_model.md).</a:t>
            </a:r>
          </a:p>
          <a:p/>
          <a:p>
            <a:r>
              <a:t>**Where this goes next** (SIH sustainability criterion): GPU seed-averaging to recover a forward</a:t>
            </a:r>
          </a:p>
          <a:p>
            <a:r>
              <a:t>operating point, the M11 lab capture to obtain the two missing kill-chain stages, engine-side</a:t>
            </a:r>
          </a:p>
          <a:p>
            <a:r>
              <a:t>fusion, an IPv6/QUIC feature path, and optional public anchoring of ledger checkpoints —</a:t>
            </a:r>
          </a:p>
          <a:p>
            <a:r>
              <a:t>[docs/roadmap.md](roadmap.md) separates what is shipped from what is planned.</a:t>
            </a:r>
          </a:p>
          <a:p/>
          <a:p>
            <a:r>
              <a:t>*Also: benign traffic is subsampled, so alerts/day is a within-sample rate; the k-step head has</a:t>
            </a:r>
          </a:p>
          <a:p>
            <a:r>
              <a:t>**no usable operating point at any horizon** (0/2 episodes at k=1/4/8 — ranking signal only),</a:t>
            </a:r>
          </a:p>
          <a:p>
            <a:r>
              <a:t>and its target is 93–96 % identical to the nowcast target; the ledger is tamper-evident, not a</a:t>
            </a:r>
          </a:p>
          <a:p>
            <a:r>
              <a:t>distributed blockchain — deliberately, so the demo runs air-gapped.*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-accent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A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deck-title"/>
          <p:cNvSpPr txBox="1"/>
          <p:nvPr/>
        </p:nvSpPr>
        <p:spPr>
          <a:xfrm>
            <a:off x="566928" y="365760"/>
            <a:ext cx="11057839" cy="4566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100" b="1" i="0">
                <a:solidFill>
                  <a:srgbClr val="101A28"/>
                </a:solidFill>
                <a:latin typeface="Segoe UI"/>
              </a:rPr>
              <a:t>The problem, and why it is not classification</a:t>
            </a:r>
          </a:p>
        </p:txBody>
      </p:sp>
      <p:sp>
        <p:nvSpPr>
          <p:cNvPr id="4" name="deck-title-rule"/>
          <p:cNvSpPr/>
          <p:nvPr/>
        </p:nvSpPr>
        <p:spPr>
          <a:xfrm>
            <a:off x="566928" y="913892"/>
            <a:ext cx="1920240" cy="41148"/>
          </a:xfrm>
          <a:prstGeom prst="rect">
            <a:avLst/>
          </a:prstGeom>
          <a:solidFill>
            <a:srgbClr val="1A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deck-kicker"/>
          <p:cNvSpPr txBox="1"/>
          <p:nvPr/>
        </p:nvSpPr>
        <p:spPr>
          <a:xfrm>
            <a:off x="566928" y="1151636"/>
            <a:ext cx="11057839" cy="232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50" b="1" i="0">
                <a:solidFill>
                  <a:srgbClr val="1A6FAF"/>
                </a:solidFill>
                <a:latin typeface="Segoe UI"/>
              </a:rPr>
              <a:t>SIH26153 · NTRO · theme: Blockchain &amp; Cybersecurity</a:t>
            </a:r>
          </a:p>
        </p:txBody>
      </p:sp>
      <p:sp>
        <p:nvSpPr>
          <p:cNvPr id="6" name="deck-headline"/>
          <p:cNvSpPr txBox="1"/>
          <p:nvPr/>
        </p:nvSpPr>
        <p:spPr>
          <a:xfrm>
            <a:off x="566928" y="1566545"/>
            <a:ext cx="11057839" cy="7127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300" b="0" i="0">
                <a:solidFill>
                  <a:srgbClr val="0E3A5C"/>
                </a:solidFill>
                <a:latin typeface="Segoe UI"/>
              </a:rPr>
              <a:t>The problem statement asks: given traffic up to </a:t>
            </a:r>
            <a:r>
              <a:rPr sz="2300" b="0" i="1">
                <a:solidFill>
                  <a:srgbClr val="0E3A5C"/>
                </a:solidFill>
                <a:latin typeface="Segoe UI"/>
              </a:rPr>
              <a:t>t</a:t>
            </a:r>
            <a:r>
              <a:rPr sz="2300" b="0" i="0">
                <a:solidFill>
                  <a:srgbClr val="0E3A5C"/>
                </a:solidFill>
                <a:latin typeface="Segoe UI"/>
              </a:rPr>
              <a:t>, </a:t>
            </a:r>
            <a:r>
              <a:rPr sz="2300" b="1" i="0">
                <a:solidFill>
                  <a:srgbClr val="0E3A5C"/>
                </a:solidFill>
                <a:latin typeface="Segoe UI"/>
              </a:rPr>
              <a:t>forecast</a:t>
            </a:r>
            <a:r>
              <a:rPr sz="2300" b="0" i="0">
                <a:solidFill>
                  <a:srgbClr val="0E3A5C"/>
                </a:solidFill>
                <a:latin typeface="Segoe UI"/>
              </a:rPr>
              <a:t> infiltration at </a:t>
            </a:r>
            <a:r>
              <a:rPr sz="2300" b="0" i="1">
                <a:solidFill>
                  <a:srgbClr val="0E3A5C"/>
                </a:solidFill>
                <a:latin typeface="Segoe UI"/>
              </a:rPr>
              <a:t>t+k</a:t>
            </a:r>
            <a:r>
              <a:rPr sz="2300" b="0" i="0">
                <a:solidFill>
                  <a:srgbClr val="0E3A5C"/>
                </a:solidFill>
                <a:latin typeface="Segoe UI"/>
              </a:rPr>
              <a:t> — not "was this flow malicious?"</a:t>
            </a:r>
          </a:p>
        </p:txBody>
      </p:sp>
      <p:sp>
        <p:nvSpPr>
          <p:cNvPr id="7" name="deck-points"/>
          <p:cNvSpPr txBox="1"/>
          <p:nvPr/>
        </p:nvSpPr>
        <p:spPr>
          <a:xfrm>
            <a:off x="566928" y="2517013"/>
            <a:ext cx="11057839" cy="1527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Unit of prediction: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(source host, 15 s window)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, 5 s stride — not per-flow, not whole-network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Success metric: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lead time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at a fixed false-positive budget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Hard constraints: fully offline, flow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and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packet features, graded LR baseline on the identical matrix, file input, Apache-2.0</a:t>
            </a:r>
          </a:p>
        </p:txBody>
      </p:sp>
      <p:sp>
        <p:nvSpPr>
          <p:cNvPr id="8" name="deck-band"/>
          <p:cNvSpPr/>
          <p:nvPr/>
        </p:nvSpPr>
        <p:spPr>
          <a:xfrm>
            <a:off x="566928" y="4245229"/>
            <a:ext cx="11057839" cy="1241298"/>
          </a:xfrm>
          <a:prstGeom prst="rect">
            <a:avLst/>
          </a:prstGeom>
          <a:solidFill>
            <a:srgbClr val="FDF3E0"/>
          </a:solidFill>
          <a:ln w="15875">
            <a:solidFill>
              <a:srgbClr val="C1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eck-band-edge"/>
          <p:cNvSpPr/>
          <p:nvPr/>
        </p:nvSpPr>
        <p:spPr>
          <a:xfrm>
            <a:off x="566928" y="4245229"/>
            <a:ext cx="68580" cy="1241298"/>
          </a:xfrm>
          <a:prstGeom prst="rect">
            <a:avLst/>
          </a:prstGeom>
          <a:solidFill>
            <a:srgbClr val="C1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deck-band-label"/>
          <p:cNvSpPr txBox="1"/>
          <p:nvPr/>
        </p:nvSpPr>
        <p:spPr>
          <a:xfrm>
            <a:off x="822960" y="4354957"/>
            <a:ext cx="10545775" cy="224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6B400A"/>
                </a:solidFill>
                <a:latin typeface="Segoe UI"/>
              </a:rPr>
              <a:t>THE STANDARD, AND WHERE WE STAND</a:t>
            </a:r>
          </a:p>
        </p:txBody>
      </p:sp>
      <p:sp>
        <p:nvSpPr>
          <p:cNvPr id="11" name="deck-band-text"/>
          <p:cNvSpPr txBox="1"/>
          <p:nvPr/>
        </p:nvSpPr>
        <p:spPr>
          <a:xfrm>
            <a:off x="822960" y="4633849"/>
            <a:ext cx="10545775" cy="742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101A28"/>
                </a:solidFill>
                <a:latin typeface="Segoe UI"/>
              </a:rPr>
              <a:t>A model with better F1 and zero lead time has failed this problem. Ours: at the 1 % budget the k-step head </a:t>
            </a:r>
            <a:r>
              <a:rPr sz="1500" b="1" i="0">
                <a:solidFill>
                  <a:srgbClr val="101A28"/>
                </a:solidFill>
                <a:latin typeface="Segoe UI"/>
              </a:rPr>
              <a:t>fires on 0 of 2 episodes at k = 1, 4 and 8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 — forward is </a:t>
            </a:r>
            <a:r>
              <a:rPr sz="1500" b="1" i="0">
                <a:solidFill>
                  <a:srgbClr val="101A28"/>
                </a:solidFill>
                <a:latin typeface="Segoe UI"/>
              </a:rPr>
              <a:t>ranking only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 (test AUROC 0.844 at k=4, 0.842 at k=8). The lead time on slide 3 is the </a:t>
            </a:r>
            <a:r>
              <a:rPr sz="1500" b="1" i="0">
                <a:solidFill>
                  <a:srgbClr val="101A28"/>
                </a:solidFill>
                <a:latin typeface="Segoe UI"/>
              </a:rPr>
              <a:t>horizon-0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 classifier.</a:t>
            </a:r>
          </a:p>
        </p:txBody>
      </p:sp>
      <p:sp>
        <p:nvSpPr>
          <p:cNvPr id="12" name="deck-footer"/>
          <p:cNvSpPr txBox="1"/>
          <p:nvPr/>
        </p:nvSpPr>
        <p:spPr>
          <a:xfrm>
            <a:off x="566928" y="6345936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556272"/>
                </a:solidFill>
                <a:latin typeface="Segoe UI"/>
              </a:rPr>
              <a:t>SIH26153 · NTRO · built from docs/slides.md by scripts/build_deck.py</a:t>
            </a:r>
          </a:p>
        </p:txBody>
      </p:sp>
      <p:sp>
        <p:nvSpPr>
          <p:cNvPr id="13" name="deck-footer-number"/>
          <p:cNvSpPr txBox="1"/>
          <p:nvPr/>
        </p:nvSpPr>
        <p:spPr>
          <a:xfrm>
            <a:off x="10527487" y="634593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56272"/>
                </a:solidFill>
                <a:latin typeface="Segoe U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-accent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A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deck-title"/>
          <p:cNvSpPr txBox="1"/>
          <p:nvPr/>
        </p:nvSpPr>
        <p:spPr>
          <a:xfrm>
            <a:off x="566928" y="365760"/>
            <a:ext cx="11057839" cy="4566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100" b="1" i="0">
                <a:solidFill>
                  <a:srgbClr val="101A28"/>
                </a:solidFill>
                <a:latin typeface="Segoe UI"/>
              </a:rPr>
              <a:t>Architecture</a:t>
            </a:r>
          </a:p>
        </p:txBody>
      </p:sp>
      <p:sp>
        <p:nvSpPr>
          <p:cNvPr id="4" name="deck-title-rule"/>
          <p:cNvSpPr/>
          <p:nvPr/>
        </p:nvSpPr>
        <p:spPr>
          <a:xfrm>
            <a:off x="566928" y="913892"/>
            <a:ext cx="1920240" cy="41148"/>
          </a:xfrm>
          <a:prstGeom prst="rect">
            <a:avLst/>
          </a:prstGeom>
          <a:solidFill>
            <a:srgbClr val="1A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deck-headline"/>
          <p:cNvSpPr txBox="1"/>
          <p:nvPr/>
        </p:nvSpPr>
        <p:spPr>
          <a:xfrm>
            <a:off x="566928" y="1151636"/>
            <a:ext cx="11057839" cy="7127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300" b="0" i="0">
                <a:solidFill>
                  <a:srgbClr val="0E3A5C"/>
                </a:solidFill>
                <a:latin typeface="Segoe UI"/>
              </a:rPr>
              <a:t>Causality is enforced, not assumed — and no raw identity reaches the model.</a:t>
            </a:r>
          </a:p>
        </p:txBody>
      </p:sp>
      <p:sp>
        <p:nvSpPr>
          <p:cNvPr id="6" name="deck-pipe-0-0"/>
          <p:cNvSpPr/>
          <p:nvPr/>
        </p:nvSpPr>
        <p:spPr>
          <a:xfrm>
            <a:off x="566928" y="2102104"/>
            <a:ext cx="2695879" cy="841248"/>
          </a:xfrm>
          <a:prstGeom prst="chevron">
            <a:avLst/>
          </a:prstGeom>
          <a:solidFill>
            <a:srgbClr val="0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/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PCAP/CSV</a:t>
            </a:r>
          </a:p>
        </p:txBody>
      </p:sp>
      <p:sp>
        <p:nvSpPr>
          <p:cNvPr id="7" name="deck-pipe-0-1"/>
          <p:cNvSpPr/>
          <p:nvPr/>
        </p:nvSpPr>
        <p:spPr>
          <a:xfrm>
            <a:off x="3354247" y="2102104"/>
            <a:ext cx="2695879" cy="841248"/>
          </a:xfrm>
          <a:prstGeom prst="chevron">
            <a:avLst/>
          </a:prstGeom>
          <a:solidFill>
            <a:srgbClr val="EEF3F8"/>
          </a:solidFill>
          <a:ln w="15875">
            <a:solidFill>
              <a:srgbClr val="CE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/>
          <a:lstStyle/>
          <a:p>
            <a:pPr algn="ctr"/>
            <a:r>
              <a:rPr sz="1400" b="0" i="0">
                <a:solidFill>
                  <a:srgbClr val="101A28"/>
                </a:solidFill>
                <a:latin typeface="Segoe UI"/>
              </a:rPr>
              <a:t>streaming extractor</a:t>
            </a:r>
          </a:p>
        </p:txBody>
      </p:sp>
      <p:sp>
        <p:nvSpPr>
          <p:cNvPr id="8" name="deck-pipe-0-2"/>
          <p:cNvSpPr/>
          <p:nvPr/>
        </p:nvSpPr>
        <p:spPr>
          <a:xfrm>
            <a:off x="6141567" y="2102104"/>
            <a:ext cx="2695879" cy="841248"/>
          </a:xfrm>
          <a:prstGeom prst="chevron">
            <a:avLst/>
          </a:prstGeom>
          <a:solidFill>
            <a:srgbClr val="EEF3F8"/>
          </a:solidFill>
          <a:ln w="15875">
            <a:solidFill>
              <a:srgbClr val="CE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/>
          <a:lstStyle/>
          <a:p>
            <a:pPr algn="ctr"/>
            <a:r>
              <a:rPr sz="1400" b="0" i="0">
                <a:solidFill>
                  <a:srgbClr val="101A28"/>
                </a:solidFill>
                <a:latin typeface="Segoe UI"/>
              </a:rPr>
              <a:t>30 window-bounded features</a:t>
            </a:r>
          </a:p>
        </p:txBody>
      </p:sp>
      <p:sp>
        <p:nvSpPr>
          <p:cNvPr id="9" name="deck-pipe-0-3"/>
          <p:cNvSpPr/>
          <p:nvPr/>
        </p:nvSpPr>
        <p:spPr>
          <a:xfrm>
            <a:off x="8928887" y="2102104"/>
            <a:ext cx="2695879" cy="841248"/>
          </a:xfrm>
          <a:prstGeom prst="chevron">
            <a:avLst/>
          </a:prstGeom>
          <a:solidFill>
            <a:srgbClr val="EEF3F8"/>
          </a:solidFill>
          <a:ln w="15875">
            <a:solidFill>
              <a:srgbClr val="CE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/>
          <a:lstStyle/>
          <a:p>
            <a:pPr algn="ctr"/>
            <a:r>
              <a:rPr sz="1400" b="0" i="0">
                <a:solidFill>
                  <a:srgbClr val="101A28"/>
                </a:solidFill>
                <a:latin typeface="Segoe UI"/>
              </a:rPr>
              <a:t>TGN temporal-graph memory</a:t>
            </a:r>
          </a:p>
        </p:txBody>
      </p:sp>
      <p:sp>
        <p:nvSpPr>
          <p:cNvPr id="10" name="deck-pipe-1-0"/>
          <p:cNvSpPr/>
          <p:nvPr/>
        </p:nvSpPr>
        <p:spPr>
          <a:xfrm>
            <a:off x="566928" y="3071368"/>
            <a:ext cx="2695879" cy="841248"/>
          </a:xfrm>
          <a:prstGeom prst="chevron">
            <a:avLst/>
          </a:prstGeom>
          <a:solidFill>
            <a:srgbClr val="EEF3F8"/>
          </a:solidFill>
          <a:ln w="15875">
            <a:solidFill>
              <a:srgbClr val="CE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/>
          <a:lstStyle/>
          <a:p>
            <a:pPr algn="ctr"/>
            <a:r>
              <a:rPr sz="1400" b="0" i="0">
                <a:solidFill>
                  <a:srgbClr val="101A28"/>
                </a:solidFill>
                <a:latin typeface="Segoe UI"/>
              </a:rPr>
              <a:t>causal Transformer (GRAFT)</a:t>
            </a:r>
          </a:p>
        </p:txBody>
      </p:sp>
      <p:sp>
        <p:nvSpPr>
          <p:cNvPr id="11" name="deck-pipe-1-1"/>
          <p:cNvSpPr/>
          <p:nvPr/>
        </p:nvSpPr>
        <p:spPr>
          <a:xfrm>
            <a:off x="3354247" y="3071368"/>
            <a:ext cx="2695879" cy="841248"/>
          </a:xfrm>
          <a:prstGeom prst="chevron">
            <a:avLst/>
          </a:prstGeom>
          <a:solidFill>
            <a:srgbClr val="EEF3F8"/>
          </a:solidFill>
          <a:ln w="15875">
            <a:solidFill>
              <a:srgbClr val="CE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/>
          <a:lstStyle/>
          <a:p>
            <a:pPr algn="ctr"/>
            <a:r>
              <a:rPr sz="1400" b="0" i="0">
                <a:solidFill>
                  <a:srgbClr val="101A28"/>
                </a:solidFill>
                <a:latin typeface="Segoe UI"/>
              </a:rPr>
              <a:t>forecast head (horizon k): </a:t>
            </a:r>
            <a:r>
              <a:rPr sz="1400" b="1" i="0">
                <a:solidFill>
                  <a:srgbClr val="101A28"/>
                </a:solidFill>
                <a:latin typeface="Segoe UI"/>
              </a:rPr>
              <a:t>ranking only</a:t>
            </a:r>
          </a:p>
        </p:txBody>
      </p:sp>
      <p:sp>
        <p:nvSpPr>
          <p:cNvPr id="12" name="deck-pipe-1-2"/>
          <p:cNvSpPr/>
          <p:nvPr/>
        </p:nvSpPr>
        <p:spPr>
          <a:xfrm>
            <a:off x="6141567" y="3071368"/>
            <a:ext cx="2695879" cy="841248"/>
          </a:xfrm>
          <a:prstGeom prst="chevron">
            <a:avLst/>
          </a:prstGeom>
          <a:solidFill>
            <a:srgbClr val="EEF3F8"/>
          </a:solidFill>
          <a:ln w="15875">
            <a:solidFill>
              <a:srgbClr val="CE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/>
          <a:lstStyle/>
          <a:p>
            <a:pPr algn="ctr"/>
            <a:r>
              <a:rPr sz="1400" b="0" i="0">
                <a:solidFill>
                  <a:srgbClr val="101A28"/>
                </a:solidFill>
                <a:latin typeface="Segoe UI"/>
              </a:rPr>
              <a:t>engine</a:t>
            </a:r>
          </a:p>
        </p:txBody>
      </p:sp>
      <p:sp>
        <p:nvSpPr>
          <p:cNvPr id="13" name="deck-pipe-1-3"/>
          <p:cNvSpPr/>
          <p:nvPr/>
        </p:nvSpPr>
        <p:spPr>
          <a:xfrm>
            <a:off x="8928887" y="3071368"/>
            <a:ext cx="2695879" cy="841248"/>
          </a:xfrm>
          <a:prstGeom prst="chevron">
            <a:avLst/>
          </a:prstGeom>
          <a:solidFill>
            <a:srgbClr val="0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/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tamper-evident ledger</a:t>
            </a:r>
          </a:p>
        </p:txBody>
      </p:sp>
      <p:sp>
        <p:nvSpPr>
          <p:cNvPr id="14" name="deck-points"/>
          <p:cNvSpPr txBox="1"/>
          <p:nvPr/>
        </p:nvSpPr>
        <p:spPr>
          <a:xfrm>
            <a:off x="566928" y="4168648"/>
            <a:ext cx="11057839" cy="17990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Packet + flow features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TTL variance, TCP window, fragment flags, payload histogram, scan signature, retransmissions — 110k packets/s in bounded memory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Causal by construction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</a:t>
            </a:r>
            <a:r>
              <a:rPr sz="1700" b="0" i="0">
                <a:solidFill>
                  <a:srgbClr val="101A28"/>
                </a:solidFill>
                <a:latin typeface="Consolas"/>
              </a:rPr>
              <a:t>test_no_future_leakage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proves perturbing the future leaves the past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bit-identical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Anonymised identity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keyed-HMAC pseudonyms, per-epoch permutation, role-only node features</a:t>
            </a:r>
          </a:p>
        </p:txBody>
      </p:sp>
      <p:sp>
        <p:nvSpPr>
          <p:cNvPr id="15" name="deck-footer"/>
          <p:cNvSpPr txBox="1"/>
          <p:nvPr/>
        </p:nvSpPr>
        <p:spPr>
          <a:xfrm>
            <a:off x="566928" y="6345936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556272"/>
                </a:solidFill>
                <a:latin typeface="Segoe UI"/>
              </a:rPr>
              <a:t>SIH26153 · NTRO · built from docs/slides.md by scripts/build_deck.py</a:t>
            </a:r>
          </a:p>
        </p:txBody>
      </p:sp>
      <p:sp>
        <p:nvSpPr>
          <p:cNvPr id="16" name="deck-footer-number"/>
          <p:cNvSpPr txBox="1"/>
          <p:nvPr/>
        </p:nvSpPr>
        <p:spPr>
          <a:xfrm>
            <a:off x="10527487" y="634593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56272"/>
                </a:solidFill>
                <a:latin typeface="Segoe U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-accent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A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deck-title"/>
          <p:cNvSpPr txBox="1"/>
          <p:nvPr/>
        </p:nvSpPr>
        <p:spPr>
          <a:xfrm>
            <a:off x="566928" y="365760"/>
            <a:ext cx="11057839" cy="4566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100" b="1" i="0">
                <a:solidFill>
                  <a:srgbClr val="101A28"/>
                </a:solidFill>
                <a:latin typeface="Segoe UI"/>
              </a:rPr>
              <a:t>Results: dynamics generalise, flow signatures do not</a:t>
            </a:r>
          </a:p>
        </p:txBody>
      </p:sp>
      <p:sp>
        <p:nvSpPr>
          <p:cNvPr id="4" name="deck-title-rule"/>
          <p:cNvSpPr/>
          <p:nvPr/>
        </p:nvSpPr>
        <p:spPr>
          <a:xfrm>
            <a:off x="566928" y="913892"/>
            <a:ext cx="1920240" cy="41148"/>
          </a:xfrm>
          <a:prstGeom prst="rect">
            <a:avLst/>
          </a:prstGeom>
          <a:solidFill>
            <a:srgbClr val="1A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deck-kicker"/>
          <p:cNvSpPr txBox="1"/>
          <p:nvPr/>
        </p:nvSpPr>
        <p:spPr>
          <a:xfrm>
            <a:off x="566928" y="1151636"/>
            <a:ext cx="11057839" cy="232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50" b="1" i="0">
                <a:solidFill>
                  <a:srgbClr val="1A6FAF"/>
                </a:solidFill>
                <a:latin typeface="Segoe UI"/>
              </a:rPr>
              <a:t>Trained on brute-force + DoS days · tested on an unseen </a:t>
            </a:r>
            <a:r>
              <a:rPr sz="1450" b="1" i="0">
                <a:solidFill>
                  <a:srgbClr val="1A6FAF"/>
                </a:solidFill>
                <a:latin typeface="Segoe UI"/>
              </a:rPr>
              <a:t>bot</a:t>
            </a:r>
            <a:r>
              <a:rPr sz="1450" b="1" i="0">
                <a:solidFill>
                  <a:srgbClr val="1A6FAF"/>
                </a:solidFill>
                <a:latin typeface="Segoe UI"/>
              </a:rPr>
              <a:t> day · 1 % FPR budget</a:t>
            </a:r>
          </a:p>
        </p:txBody>
      </p:sp>
      <p:graphicFrame>
        <p:nvGraphicFramePr>
          <p:cNvPr id="6" name="deck-table"/>
          <p:cNvGraphicFramePr>
            <a:graphicFrameLocks noGrp="1"/>
          </p:cNvGraphicFramePr>
          <p:nvPr/>
        </p:nvGraphicFramePr>
        <p:xfrm>
          <a:off x="566928" y="1566545"/>
          <a:ext cx="11057839" cy="2359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687519"/>
                <a:gridCol w="868680"/>
                <a:gridCol w="1828800"/>
                <a:gridCol w="2636520"/>
                <a:gridCol w="1036320"/>
              </a:tblGrid>
              <a:tr h="34747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anchor="ctr" marL="91440" marR="91440" marT="0" marB="0">
                    <a:solidFill>
                      <a:srgbClr val="0E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AUROC</a:t>
                      </a:r>
                    </a:p>
                  </a:txBody>
                  <a:tcPr anchor="ctr" marL="91440" marR="91440" marT="0" marB="0">
                    <a:solidFill>
                      <a:srgbClr val="0E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0 → 1</a:t>
                      </a:r>
                    </a:p>
                  </a:txBody>
                  <a:tcPr anchor="ctr" marL="91440" marR="91440" marT="0" marB="0">
                    <a:solidFill>
                      <a:srgbClr val="0E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median lead (horizon-0)</a:t>
                      </a:r>
                    </a:p>
                  </a:txBody>
                  <a:tcPr anchor="ctr" marL="91440" marR="91440" marT="0" marB="0">
                    <a:solidFill>
                      <a:srgbClr val="0E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episodes</a:t>
                      </a:r>
                    </a:p>
                  </a:txBody>
                  <a:tcPr anchor="ctr" marL="91440" marR="91440" marT="0" marB="0">
                    <a:solidFill>
                      <a:srgbClr val="0E3A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101A28"/>
                          </a:solidFill>
                          <a:latin typeface="Segoe UI"/>
                        </a:rPr>
                        <a:t>Fused (TGN + XGBoost, rank-mean)</a:t>
                      </a:r>
                    </a:p>
                  </a:txBody>
                  <a:tcPr anchor="ctr" marL="91440" marR="91440" marT="0" marB="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101A28"/>
                          </a:solidFill>
                          <a:latin typeface="Segoe UI"/>
                        </a:rPr>
                        <a:t>0.933</a:t>
                      </a:r>
                    </a:p>
                  </a:txBody>
                  <a:tcPr anchor="ctr" marL="91440" marR="91440" marT="0" marB="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L="91440" marR="91440" marT="0" marB="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01A28"/>
                          </a:solidFill>
                          <a:latin typeface="Segoe UI"/>
                        </a:rPr>
                        <a:t>4195 s (~70 min)</a:t>
                      </a:r>
                    </a:p>
                  </a:txBody>
                  <a:tcPr anchor="ctr" marL="91440" marR="91440" marT="0" marB="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101A28"/>
                          </a:solidFill>
                          <a:latin typeface="Segoe UI"/>
                        </a:rPr>
                        <a:t>2/2</a:t>
                      </a:r>
                    </a:p>
                  </a:txBody>
                  <a:tcPr anchor="ctr" marL="91440" marR="91440" marT="0" marB="0">
                    <a:solidFill>
                      <a:srgbClr val="EEF3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XGBoost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0.872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4208 s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2/2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TGN temporal encoder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0.840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38 s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1/2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GRAFT (shipped config)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0.701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1035 s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2/2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Logistic regression </a:t>
                      </a:r>
                      <a:r>
                        <a:rPr sz="1700" b="0" i="1">
                          <a:solidFill>
                            <a:srgbClr val="101A28"/>
                          </a:solidFill>
                          <a:latin typeface="Segoe UI"/>
                        </a:rPr>
                        <a:t>(graded baseline)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0.573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01A28"/>
                          </a:solidFill>
                          <a:latin typeface="Segoe UI"/>
                        </a:rPr>
                        <a:t>0 s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101A28"/>
                          </a:solidFill>
                          <a:latin typeface="Segoe UI"/>
                        </a:rPr>
                        <a:t>0/2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eck-bar-track-1"/>
          <p:cNvSpPr/>
          <p:nvPr/>
        </p:nvSpPr>
        <p:spPr>
          <a:xfrm>
            <a:off x="6214567" y="2037461"/>
            <a:ext cx="1645920" cy="155448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eck-bar-1"/>
          <p:cNvSpPr/>
          <p:nvPr/>
        </p:nvSpPr>
        <p:spPr>
          <a:xfrm>
            <a:off x="6214567" y="2037461"/>
            <a:ext cx="1535643" cy="155448"/>
          </a:xfrm>
          <a:prstGeom prst="rect">
            <a:avLst/>
          </a:prstGeom>
          <a:solidFill>
            <a:srgbClr val="0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eck-bar-track-2"/>
          <p:cNvSpPr/>
          <p:nvPr/>
        </p:nvSpPr>
        <p:spPr>
          <a:xfrm>
            <a:off x="6214567" y="2439797"/>
            <a:ext cx="1645920" cy="155448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deck-bar-2"/>
          <p:cNvSpPr/>
          <p:nvPr/>
        </p:nvSpPr>
        <p:spPr>
          <a:xfrm>
            <a:off x="6214567" y="2439797"/>
            <a:ext cx="1435242" cy="155448"/>
          </a:xfrm>
          <a:prstGeom prst="rect">
            <a:avLst/>
          </a:prstGeom>
          <a:solidFill>
            <a:srgbClr val="9CC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eck-bar-track-3"/>
          <p:cNvSpPr/>
          <p:nvPr/>
        </p:nvSpPr>
        <p:spPr>
          <a:xfrm>
            <a:off x="6214567" y="2842133"/>
            <a:ext cx="1645920" cy="155448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eck-bar-3"/>
          <p:cNvSpPr/>
          <p:nvPr/>
        </p:nvSpPr>
        <p:spPr>
          <a:xfrm>
            <a:off x="6214567" y="2842133"/>
            <a:ext cx="1382572" cy="155448"/>
          </a:xfrm>
          <a:prstGeom prst="rect">
            <a:avLst/>
          </a:prstGeom>
          <a:solidFill>
            <a:srgbClr val="9CC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deck-bar-track-4"/>
          <p:cNvSpPr/>
          <p:nvPr/>
        </p:nvSpPr>
        <p:spPr>
          <a:xfrm>
            <a:off x="6214567" y="3244469"/>
            <a:ext cx="1645920" cy="155448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eck-bar-4"/>
          <p:cNvSpPr/>
          <p:nvPr/>
        </p:nvSpPr>
        <p:spPr>
          <a:xfrm>
            <a:off x="6214567" y="3244469"/>
            <a:ext cx="1153789" cy="155448"/>
          </a:xfrm>
          <a:prstGeom prst="rect">
            <a:avLst/>
          </a:prstGeom>
          <a:solidFill>
            <a:srgbClr val="9CC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eck-bar-track-5"/>
          <p:cNvSpPr/>
          <p:nvPr/>
        </p:nvSpPr>
        <p:spPr>
          <a:xfrm>
            <a:off x="6214567" y="3646804"/>
            <a:ext cx="1645920" cy="155448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deck-bar-5"/>
          <p:cNvSpPr/>
          <p:nvPr/>
        </p:nvSpPr>
        <p:spPr>
          <a:xfrm>
            <a:off x="6214567" y="3646804"/>
            <a:ext cx="943112" cy="155448"/>
          </a:xfrm>
          <a:prstGeom prst="rect">
            <a:avLst/>
          </a:prstGeom>
          <a:solidFill>
            <a:srgbClr val="9CC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eck-chips-label"/>
          <p:cNvSpPr txBox="1"/>
          <p:nvPr/>
        </p:nvSpPr>
        <p:spPr>
          <a:xfrm>
            <a:off x="566928" y="4108577"/>
            <a:ext cx="11057839" cy="224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A6FAF"/>
                </a:solidFill>
                <a:latin typeface="Segoe UI"/>
              </a:rPr>
              <a:t>WHAT IS ACTUALLY NEW HERE</a:t>
            </a:r>
          </a:p>
        </p:txBody>
      </p:sp>
      <p:sp>
        <p:nvSpPr>
          <p:cNvPr id="18" name="deck-chip-0"/>
          <p:cNvSpPr/>
          <p:nvPr/>
        </p:nvSpPr>
        <p:spPr>
          <a:xfrm>
            <a:off x="566928" y="4387469"/>
            <a:ext cx="3588410" cy="459485"/>
          </a:xfrm>
          <a:prstGeom prst="rect">
            <a:avLst/>
          </a:prstGeom>
          <a:solidFill>
            <a:srgbClr val="EEF3F8"/>
          </a:solidFill>
          <a:ln w="15875">
            <a:solidFill>
              <a:srgbClr val="CE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eck-chip-text-0"/>
          <p:cNvSpPr txBox="1"/>
          <p:nvPr/>
        </p:nvSpPr>
        <p:spPr>
          <a:xfrm>
            <a:off x="704088" y="4506341"/>
            <a:ext cx="3314090" cy="2400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101A28"/>
                </a:solidFill>
                <a:latin typeface="Segoe UI"/>
              </a:rPr>
              <a:t>Honest-by-construction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 protocol</a:t>
            </a:r>
          </a:p>
        </p:txBody>
      </p:sp>
      <p:sp>
        <p:nvSpPr>
          <p:cNvPr id="20" name="deck-chip-1"/>
          <p:cNvSpPr/>
          <p:nvPr/>
        </p:nvSpPr>
        <p:spPr>
          <a:xfrm>
            <a:off x="4301642" y="4387469"/>
            <a:ext cx="3588410" cy="459485"/>
          </a:xfrm>
          <a:prstGeom prst="rect">
            <a:avLst/>
          </a:prstGeom>
          <a:solidFill>
            <a:srgbClr val="EEF3F8"/>
          </a:solidFill>
          <a:ln w="15875">
            <a:solidFill>
              <a:srgbClr val="CE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deck-chip-text-1"/>
          <p:cNvSpPr txBox="1"/>
          <p:nvPr/>
        </p:nvSpPr>
        <p:spPr>
          <a:xfrm>
            <a:off x="4438802" y="4506341"/>
            <a:ext cx="3314090" cy="2400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101A28"/>
                </a:solidFill>
                <a:latin typeface="Segoe UI"/>
              </a:rPr>
              <a:t>Decorrelated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 rank fusion</a:t>
            </a:r>
          </a:p>
        </p:txBody>
      </p:sp>
      <p:sp>
        <p:nvSpPr>
          <p:cNvPr id="22" name="deck-chip-2"/>
          <p:cNvSpPr/>
          <p:nvPr/>
        </p:nvSpPr>
        <p:spPr>
          <a:xfrm>
            <a:off x="8036356" y="4387469"/>
            <a:ext cx="3588410" cy="459485"/>
          </a:xfrm>
          <a:prstGeom prst="rect">
            <a:avLst/>
          </a:prstGeom>
          <a:solidFill>
            <a:srgbClr val="EEF3F8"/>
          </a:solidFill>
          <a:ln w="15875">
            <a:solidFill>
              <a:srgbClr val="CE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deck-chip-text-2"/>
          <p:cNvSpPr txBox="1"/>
          <p:nvPr/>
        </p:nvSpPr>
        <p:spPr>
          <a:xfrm>
            <a:off x="8173516" y="4506341"/>
            <a:ext cx="3314090" cy="2400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101A28"/>
                </a:solidFill>
                <a:latin typeface="Segoe UI"/>
              </a:rPr>
              <a:t>Ledger that </a:t>
            </a:r>
            <a:r>
              <a:rPr sz="1500" b="1" i="0">
                <a:solidFill>
                  <a:srgbClr val="101A28"/>
                </a:solidFill>
                <a:latin typeface="Segoe UI"/>
              </a:rPr>
              <a:t>refuses to lie</a:t>
            </a:r>
          </a:p>
        </p:txBody>
      </p:sp>
      <p:sp>
        <p:nvSpPr>
          <p:cNvPr id="24" name="deck-band"/>
          <p:cNvSpPr/>
          <p:nvPr/>
        </p:nvSpPr>
        <p:spPr>
          <a:xfrm>
            <a:off x="566928" y="5029835"/>
            <a:ext cx="11057839" cy="993648"/>
          </a:xfrm>
          <a:prstGeom prst="rect">
            <a:avLst/>
          </a:prstGeom>
          <a:solidFill>
            <a:srgbClr val="FDF3E0"/>
          </a:solidFill>
          <a:ln w="15875">
            <a:solidFill>
              <a:srgbClr val="C1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deck-band-edge"/>
          <p:cNvSpPr/>
          <p:nvPr/>
        </p:nvSpPr>
        <p:spPr>
          <a:xfrm>
            <a:off x="566928" y="5029835"/>
            <a:ext cx="68580" cy="993648"/>
          </a:xfrm>
          <a:prstGeom prst="rect">
            <a:avLst/>
          </a:prstGeom>
          <a:solidFill>
            <a:srgbClr val="C1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deck-band-label"/>
          <p:cNvSpPr txBox="1"/>
          <p:nvPr/>
        </p:nvSpPr>
        <p:spPr>
          <a:xfrm>
            <a:off x="822960" y="5139563"/>
            <a:ext cx="10545775" cy="224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6B400A"/>
                </a:solidFill>
                <a:latin typeface="Segoe UI"/>
              </a:rPr>
              <a:t>CARRIED WITH THE CLAIM — THE LEAD COLUMN IS HORIZON-0, NOT A T+K FORECAST</a:t>
            </a:r>
          </a:p>
        </p:txBody>
      </p:sp>
      <p:sp>
        <p:nvSpPr>
          <p:cNvPr id="27" name="deck-band-text"/>
          <p:cNvSpPr txBox="1"/>
          <p:nvPr/>
        </p:nvSpPr>
        <p:spPr>
          <a:xfrm>
            <a:off x="822960" y="5418454"/>
            <a:ext cx="10545775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101A28"/>
                </a:solidFill>
                <a:latin typeface="Segoe UI"/>
              </a:rPr>
              <a:t>n = 2 episodes, one attacker host (exact 95 % CI for 2/2: [0.158, 1.000]). </a:t>
            </a:r>
            <a:r>
              <a:rPr sz="1500" b="1" i="0">
                <a:solidFill>
                  <a:srgbClr val="101A28"/>
                </a:solidFill>
                <a:latin typeface="Segoe UI"/>
              </a:rPr>
              <a:t>At this alert budget lead time does not separate from a matched-budget random baseline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 — </a:t>
            </a:r>
            <a:r>
              <a:rPr sz="1500" b="1" i="0">
                <a:solidFill>
                  <a:srgbClr val="101A28"/>
                </a:solidFill>
                <a:latin typeface="Segoe UI"/>
              </a:rPr>
              <a:t>AUROC is where the model earns its place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.</a:t>
            </a:r>
          </a:p>
        </p:txBody>
      </p:sp>
      <p:sp>
        <p:nvSpPr>
          <p:cNvPr id="28" name="deck-footer"/>
          <p:cNvSpPr txBox="1"/>
          <p:nvPr/>
        </p:nvSpPr>
        <p:spPr>
          <a:xfrm>
            <a:off x="566928" y="6345936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556272"/>
                </a:solidFill>
                <a:latin typeface="Segoe UI"/>
              </a:rPr>
              <a:t>SIH26153 · NTRO · built from docs/slides.md by scripts/build_deck.py</a:t>
            </a:r>
          </a:p>
        </p:txBody>
      </p:sp>
      <p:sp>
        <p:nvSpPr>
          <p:cNvPr id="29" name="deck-footer-number"/>
          <p:cNvSpPr txBox="1"/>
          <p:nvPr/>
        </p:nvSpPr>
        <p:spPr>
          <a:xfrm>
            <a:off x="10527487" y="634593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56272"/>
                </a:solidFill>
                <a:latin typeface="Segoe U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-accent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A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deck-title"/>
          <p:cNvSpPr txBox="1"/>
          <p:nvPr/>
        </p:nvSpPr>
        <p:spPr>
          <a:xfrm>
            <a:off x="566928" y="365760"/>
            <a:ext cx="11057839" cy="4566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100" b="1" i="0">
                <a:solidFill>
                  <a:srgbClr val="101A28"/>
                </a:solidFill>
                <a:latin typeface="Segoe UI"/>
              </a:rPr>
              <a:t>Explainability and the audit ledger</a:t>
            </a:r>
          </a:p>
        </p:txBody>
      </p:sp>
      <p:sp>
        <p:nvSpPr>
          <p:cNvPr id="4" name="deck-title-rule"/>
          <p:cNvSpPr/>
          <p:nvPr/>
        </p:nvSpPr>
        <p:spPr>
          <a:xfrm>
            <a:off x="566928" y="913892"/>
            <a:ext cx="1920240" cy="41148"/>
          </a:xfrm>
          <a:prstGeom prst="rect">
            <a:avLst/>
          </a:prstGeom>
          <a:solidFill>
            <a:srgbClr val="1A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deck-headline"/>
          <p:cNvSpPr txBox="1"/>
          <p:nvPr/>
        </p:nvSpPr>
        <p:spPr>
          <a:xfrm>
            <a:off x="566928" y="1151636"/>
            <a:ext cx="11057839" cy="35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300" b="0" i="0">
                <a:solidFill>
                  <a:srgbClr val="0E3A5C"/>
                </a:solidFill>
                <a:latin typeface="Segoe UI"/>
              </a:rPr>
              <a:t>Explainability is mandatory, so we made black-box output impossible.</a:t>
            </a:r>
          </a:p>
        </p:txBody>
      </p:sp>
      <p:sp>
        <p:nvSpPr>
          <p:cNvPr id="6" name="deck-points"/>
          <p:cNvSpPr txBox="1"/>
          <p:nvPr/>
        </p:nvSpPr>
        <p:spPr>
          <a:xfrm>
            <a:off x="566928" y="1745742"/>
            <a:ext cx="11057839" cy="24894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Top-5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named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features per alert (</a:t>
            </a:r>
            <a:r>
              <a:rPr sz="1700" b="0" i="0">
                <a:solidFill>
                  <a:srgbClr val="101A28"/>
                </a:solidFill>
                <a:latin typeface="Consolas"/>
              </a:rPr>
              <a:t>payload_hist_0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, </a:t>
            </a:r>
            <a:r>
              <a:rPr sz="1700" b="0" i="0">
                <a:solidFill>
                  <a:srgbClr val="101A28"/>
                </a:solidFill>
                <a:latin typeface="Consolas"/>
              </a:rPr>
              <a:t>distinct_dst_ips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…), a MITRE technique, the flagged flows — the build fails if an explanation returns an index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Tamper-evident ledger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: append-only hash chain + per-batch Merkle roots; HMAC pseudonyms, never raw IPs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Edit a record → the verifier names its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exact index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. Rewrite the chain → the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signed, chained checkpoint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catches it. Wrong weight hash → the engine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refuses to write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.</a:t>
            </a:r>
          </a:p>
          <a:p>
            <a:pPr marL="292608" indent="-292608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▪   </a:t>
            </a:r>
            <a:r>
              <a:rPr sz="1700" b="0" i="0">
                <a:solidFill>
                  <a:srgbClr val="101A28"/>
                </a:solidFill>
                <a:latin typeface="Consolas"/>
              </a:rPr>
              <a:t>python -m ledger.verify_cli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a judge verifies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offline</a:t>
            </a:r>
          </a:p>
        </p:txBody>
      </p:sp>
      <p:sp>
        <p:nvSpPr>
          <p:cNvPr id="7" name="deck-band"/>
          <p:cNvSpPr/>
          <p:nvPr/>
        </p:nvSpPr>
        <p:spPr>
          <a:xfrm>
            <a:off x="566928" y="4436364"/>
            <a:ext cx="11057839" cy="1241298"/>
          </a:xfrm>
          <a:prstGeom prst="rect">
            <a:avLst/>
          </a:prstGeom>
          <a:solidFill>
            <a:srgbClr val="FDF3E0"/>
          </a:solidFill>
          <a:ln w="15875">
            <a:solidFill>
              <a:srgbClr val="C1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eck-band-edge"/>
          <p:cNvSpPr/>
          <p:nvPr/>
        </p:nvSpPr>
        <p:spPr>
          <a:xfrm>
            <a:off x="566928" y="4436364"/>
            <a:ext cx="68580" cy="1241298"/>
          </a:xfrm>
          <a:prstGeom prst="rect">
            <a:avLst/>
          </a:prstGeom>
          <a:solidFill>
            <a:srgbClr val="C1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eck-band-label"/>
          <p:cNvSpPr txBox="1"/>
          <p:nvPr/>
        </p:nvSpPr>
        <p:spPr>
          <a:xfrm>
            <a:off x="822960" y="4546092"/>
            <a:ext cx="10545775" cy="224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6B400A"/>
                </a:solidFill>
                <a:latin typeface="Segoe UI"/>
              </a:rPr>
              <a:t>THE ATTACK WE COULD NOT CLOSE</a:t>
            </a:r>
          </a:p>
        </p:txBody>
      </p:sp>
      <p:sp>
        <p:nvSpPr>
          <p:cNvPr id="10" name="deck-band-text"/>
          <p:cNvSpPr txBox="1"/>
          <p:nvPr/>
        </p:nvSpPr>
        <p:spPr>
          <a:xfrm>
            <a:off x="822960" y="4824984"/>
            <a:ext cx="10545775" cy="742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101A28"/>
                </a:solidFill>
                <a:latin typeface="Segoe UI"/>
              </a:rPr>
              <a:t>Truncating the chain </a:t>
            </a:r>
            <a:r>
              <a:rPr sz="1500" b="1" i="0">
                <a:solidFill>
                  <a:srgbClr val="101A28"/>
                </a:solidFill>
                <a:latin typeface="Segoe UI"/>
              </a:rPr>
              <a:t>and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 its checkpoint log together leaves two files that agree with each other. No scheme confined to those two files can detect it — closed by publishing the anchor line </a:t>
            </a:r>
            <a:r>
              <a:rPr sz="1500" b="1" i="0">
                <a:solidFill>
                  <a:srgbClr val="101A28"/>
                </a:solidFill>
                <a:latin typeface="Segoe UI"/>
              </a:rPr>
              <a:t>before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 the demo, and stated in </a:t>
            </a:r>
            <a:r>
              <a:rPr sz="1500" b="0" i="0">
                <a:solidFill>
                  <a:srgbClr val="101A28"/>
                </a:solidFill>
                <a:latin typeface="Consolas"/>
              </a:rPr>
              <a:t>docs/limitations.md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.</a:t>
            </a:r>
          </a:p>
        </p:txBody>
      </p:sp>
      <p:sp>
        <p:nvSpPr>
          <p:cNvPr id="11" name="deck-footer"/>
          <p:cNvSpPr txBox="1"/>
          <p:nvPr/>
        </p:nvSpPr>
        <p:spPr>
          <a:xfrm>
            <a:off x="566928" y="6345936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556272"/>
                </a:solidFill>
                <a:latin typeface="Segoe UI"/>
              </a:rPr>
              <a:t>SIH26153 · NTRO · built from docs/slides.md by scripts/build_deck.py</a:t>
            </a:r>
          </a:p>
        </p:txBody>
      </p:sp>
      <p:sp>
        <p:nvSpPr>
          <p:cNvPr id="12" name="deck-footer-number"/>
          <p:cNvSpPr txBox="1"/>
          <p:nvPr/>
        </p:nvSpPr>
        <p:spPr>
          <a:xfrm>
            <a:off x="10527487" y="634593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56272"/>
                </a:solidFill>
                <a:latin typeface="Segoe U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-accent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A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deck-title"/>
          <p:cNvSpPr txBox="1"/>
          <p:nvPr/>
        </p:nvSpPr>
        <p:spPr>
          <a:xfrm>
            <a:off x="566928" y="365760"/>
            <a:ext cx="11057839" cy="4566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100" b="1" i="0">
                <a:solidFill>
                  <a:srgbClr val="101A28"/>
                </a:solidFill>
                <a:latin typeface="Segoe UI"/>
              </a:rPr>
              <a:t>What this cannot do (read </a:t>
            </a:r>
            <a:r>
              <a:rPr sz="3100" b="1" i="0">
                <a:solidFill>
                  <a:srgbClr val="101A28"/>
                </a:solidFill>
                <a:latin typeface="Consolas"/>
              </a:rPr>
              <a:t>docs/limitations.md</a:t>
            </a:r>
            <a:r>
              <a:rPr sz="3100" b="1" i="0">
                <a:solidFill>
                  <a:srgbClr val="101A28"/>
                </a:solidFill>
                <a:latin typeface="Segoe UI"/>
              </a:rPr>
              <a:t>)</a:t>
            </a:r>
          </a:p>
        </p:txBody>
      </p:sp>
      <p:sp>
        <p:nvSpPr>
          <p:cNvPr id="4" name="deck-title-rule"/>
          <p:cNvSpPr/>
          <p:nvPr/>
        </p:nvSpPr>
        <p:spPr>
          <a:xfrm>
            <a:off x="566928" y="913892"/>
            <a:ext cx="1920240" cy="41148"/>
          </a:xfrm>
          <a:prstGeom prst="rect">
            <a:avLst/>
          </a:prstGeom>
          <a:solidFill>
            <a:srgbClr val="1A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deck-points"/>
          <p:cNvSpPr txBox="1"/>
          <p:nvPr/>
        </p:nvSpPr>
        <p:spPr>
          <a:xfrm>
            <a:off x="566928" y="1151636"/>
            <a:ext cx="11057839" cy="34518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65760" indent="-365760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1.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Three kill-chain stages have zero public data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</a:t>
            </a:r>
            <a:r>
              <a:rPr sz="1700" b="0" i="0">
                <a:solidFill>
                  <a:srgbClr val="101A28"/>
                </a:solidFill>
                <a:latin typeface="Consolas"/>
              </a:rPr>
              <a:t>recon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, </a:t>
            </a:r>
            <a:r>
              <a:rPr sz="1700" b="0" i="0">
                <a:solidFill>
                  <a:srgbClr val="101A28"/>
                </a:solidFill>
                <a:latin typeface="Consolas"/>
              </a:rPr>
              <a:t>lateral_movement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, </a:t>
            </a:r>
            <a:r>
              <a:rPr sz="1700" b="0" i="0">
                <a:solidFill>
                  <a:srgbClr val="101A28"/>
                </a:solidFill>
                <a:latin typeface="Consolas"/>
              </a:rPr>
              <a:t>exfiltration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: no labelled windows,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no metric reported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.</a:t>
            </a:r>
          </a:p>
          <a:p>
            <a:pPr marL="365760" indent="-365760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2.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Four attack days ⇒ family-disjoint splits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an honest cross-family test; stage metrics are not meaningfully trainable.</a:t>
            </a:r>
          </a:p>
          <a:p>
            <a:pPr marL="365760" indent="-365760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3.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CSV cannot carry packet features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the engine runs a flow-only model and warns.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Feed it a PCAP.</a:t>
            </a:r>
          </a:p>
          <a:p>
            <a:pPr marL="365760" indent="-365760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4.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The world model we planned failed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the RSSM detected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0/2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episodes; we publish it as a negative result with its recipe.</a:t>
            </a:r>
          </a:p>
          <a:p>
            <a:pPr marL="365760" indent="-365760">
              <a:spcAft>
                <a:spcPts val="1100"/>
              </a:spcAft>
            </a:pPr>
            <a:r>
              <a:rPr sz="1700" b="0" i="0">
                <a:solidFill>
                  <a:srgbClr val="101A28"/>
                </a:solidFill>
                <a:latin typeface="Segoe UI"/>
              </a:rPr>
              <a:t>5.  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The packet parser is IPv4-only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 — IPv6 and other ethertypes are counted and reported, never featurised: an IPv6-only capture yields </a:t>
            </a:r>
            <a:r>
              <a:rPr sz="1700" b="1" i="0">
                <a:solidFill>
                  <a:srgbClr val="101A28"/>
                </a:solidFill>
                <a:latin typeface="Segoe UI"/>
              </a:rPr>
              <a:t>zero alerts</a:t>
            </a:r>
            <a:r>
              <a:rPr sz="1700" b="0" i="0">
                <a:solidFill>
                  <a:srgbClr val="101A28"/>
                </a:solidFill>
                <a:latin typeface="Segoe UI"/>
              </a:rPr>
              <a:t>.</a:t>
            </a:r>
          </a:p>
        </p:txBody>
      </p:sp>
      <p:sp>
        <p:nvSpPr>
          <p:cNvPr id="6" name="deck-band"/>
          <p:cNvSpPr/>
          <p:nvPr/>
        </p:nvSpPr>
        <p:spPr>
          <a:xfrm>
            <a:off x="566928" y="4804664"/>
            <a:ext cx="11057839" cy="1241298"/>
          </a:xfrm>
          <a:prstGeom prst="rect">
            <a:avLst/>
          </a:prstGeom>
          <a:solidFill>
            <a:srgbClr val="FDF3E0"/>
          </a:solidFill>
          <a:ln w="15875">
            <a:solidFill>
              <a:srgbClr val="C1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eck-band-edge"/>
          <p:cNvSpPr/>
          <p:nvPr/>
        </p:nvSpPr>
        <p:spPr>
          <a:xfrm>
            <a:off x="566928" y="4804664"/>
            <a:ext cx="68580" cy="1241298"/>
          </a:xfrm>
          <a:prstGeom prst="rect">
            <a:avLst/>
          </a:prstGeom>
          <a:solidFill>
            <a:srgbClr val="C1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eck-band-label"/>
          <p:cNvSpPr txBox="1"/>
          <p:nvPr/>
        </p:nvSpPr>
        <p:spPr>
          <a:xfrm>
            <a:off x="822960" y="4914392"/>
            <a:ext cx="10545775" cy="224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6B400A"/>
                </a:solidFill>
                <a:latin typeface="Segoe UI"/>
              </a:rPr>
              <a:t>WHERE THIS GOES NEXT</a:t>
            </a:r>
          </a:p>
        </p:txBody>
      </p:sp>
      <p:sp>
        <p:nvSpPr>
          <p:cNvPr id="9" name="deck-band-text"/>
          <p:cNvSpPr txBox="1"/>
          <p:nvPr/>
        </p:nvSpPr>
        <p:spPr>
          <a:xfrm>
            <a:off x="822960" y="5193284"/>
            <a:ext cx="10545775" cy="742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101A28"/>
                </a:solidFill>
                <a:latin typeface="Segoe UI"/>
              </a:rPr>
              <a:t>GPU seed-averaging for a forward operating point, the M11 lab capture for the three missing stages, engine-side fusion, IPv6/QUIC — </a:t>
            </a:r>
            <a:r>
              <a:rPr sz="1500" b="0" i="0">
                <a:solidFill>
                  <a:srgbClr val="101A28"/>
                </a:solidFill>
                <a:latin typeface="Consolas"/>
              </a:rPr>
              <a:t>docs/roadmap.md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. Not on it: an adaptive attacker defeats several </a:t>
            </a:r>
            <a:r>
              <a:rPr sz="1500" b="1" i="0">
                <a:solidFill>
                  <a:srgbClr val="101A28"/>
                </a:solidFill>
                <a:latin typeface="Segoe UI"/>
              </a:rPr>
              <a:t>mandated packet features at zero cost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 (</a:t>
            </a:r>
            <a:r>
              <a:rPr sz="1500" b="0" i="0">
                <a:solidFill>
                  <a:srgbClr val="101A28"/>
                </a:solidFill>
                <a:latin typeface="Consolas"/>
              </a:rPr>
              <a:t>docs/threat_model.md</a:t>
            </a:r>
            <a:r>
              <a:rPr sz="1500" b="0" i="0">
                <a:solidFill>
                  <a:srgbClr val="101A28"/>
                </a:solidFill>
                <a:latin typeface="Segoe UI"/>
              </a:rPr>
              <a:t>).</a:t>
            </a:r>
          </a:p>
        </p:txBody>
      </p:sp>
      <p:sp>
        <p:nvSpPr>
          <p:cNvPr id="10" name="deck-footer"/>
          <p:cNvSpPr txBox="1"/>
          <p:nvPr/>
        </p:nvSpPr>
        <p:spPr>
          <a:xfrm>
            <a:off x="566928" y="6345936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556272"/>
                </a:solidFill>
                <a:latin typeface="Segoe UI"/>
              </a:rPr>
              <a:t>SIH26153 · NTRO · built from docs/slides.md by scripts/build_deck.py</a:t>
            </a:r>
          </a:p>
        </p:txBody>
      </p:sp>
      <p:sp>
        <p:nvSpPr>
          <p:cNvPr id="11" name="deck-footer-number"/>
          <p:cNvSpPr txBox="1"/>
          <p:nvPr/>
        </p:nvSpPr>
        <p:spPr>
          <a:xfrm>
            <a:off x="10527487" y="634593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56272"/>
                </a:solidFill>
                <a:latin typeface="Segoe U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Network Attack Forecasting from Network Traffic Data</dc:title>
  <dc:subject>SIH 2026 · problem statement SIH26153 (NTRO)</dc:subject>
  <dc:creator>SIH26153 team</dc:creator>
  <cp:keywords/>
  <dc:description>Generated from docs/slides.md — edit the markdown, not this file.</dc:description>
  <cp:lastModifiedBy>scripts/build_deck.py</cp:lastModifiedBy>
  <cp:revision>1</cp:revision>
  <dcterms:created xsi:type="dcterms:W3CDTF">2026-01-01T00:00:00Z</dcterms:created>
  <dcterms:modified xsi:type="dcterms:W3CDTF">2026-01-01T00:00:00Z</dcterms:modified>
  <cp:category/>
</cp:coreProperties>
</file>